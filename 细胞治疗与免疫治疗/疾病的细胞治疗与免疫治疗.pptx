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图0_封面细胞插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749808"/>
            <a:ext cx="292608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00">
                <a:solidFill>
                  <a:srgbClr val="C4EBE7"/>
                </a:solidFill>
                <a:latin typeface="SimHei"/>
              </a:rPr>
              <a:t>医学发展史课程汇报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6492240" cy="5943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3400">
                <a:solidFill>
                  <a:srgbClr val="FFFFFF"/>
                </a:solidFill>
                <a:latin typeface="SimHei"/>
              </a:rPr>
              <a:t>疾病的细胞治疗与免疫治疗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975104"/>
            <a:ext cx="685800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1800">
                <a:solidFill>
                  <a:srgbClr val="DCEBEE"/>
                </a:solidFill>
                <a:latin typeface="SimHei"/>
              </a:rPr>
              <a:t>从“杀死肿瘤”到“训练免疫”：医学治疗逻辑的转变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816352"/>
            <a:ext cx="5852160" cy="1051560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9144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300">
                <a:solidFill>
                  <a:srgbClr val="C4EBE7"/>
                </a:solidFill>
                <a:latin typeface="SimHei"/>
              </a:rPr>
              <a:t>明确观点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28416"/>
            <a:ext cx="507492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SimHei"/>
              </a:rPr>
              <a:t>支持在严格证据和规范监管下发展，但不把它神化成万能疗法。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005840"/>
            <a:ext cx="2788920" cy="4526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F4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13648" y="1325880"/>
            <a:ext cx="128016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800">
                <a:solidFill>
                  <a:srgbClr val="1C908B"/>
                </a:solidFill>
                <a:latin typeface="SimHei"/>
              </a:rPr>
              <a:t>汇报要求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648" y="1847088"/>
            <a:ext cx="214884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b="0" sz="1500">
                <a:solidFill>
                  <a:srgbClr val="12293A"/>
                </a:solidFill>
                <a:latin typeface="SimSun"/>
              </a:rPr>
              <a:t>• 三人组队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b="0" sz="1500">
                <a:solidFill>
                  <a:srgbClr val="12293A"/>
                </a:solidFill>
                <a:latin typeface="SimSun"/>
              </a:rPr>
              <a:t>• 两人演讲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b="0" sz="1500">
                <a:solidFill>
                  <a:srgbClr val="12293A"/>
                </a:solidFill>
                <a:latin typeface="SimSun"/>
              </a:rPr>
              <a:t>• 10–15 分钟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b="0" sz="1500">
                <a:solidFill>
                  <a:srgbClr val="12293A"/>
                </a:solidFill>
                <a:latin typeface="SimSun"/>
              </a:rPr>
              <a:t>• 提交 PPT 与报告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b="0" sz="1500">
                <a:solidFill>
                  <a:srgbClr val="12293A"/>
                </a:solidFill>
                <a:latin typeface="SimSun"/>
              </a:rPr>
              <a:t>• 姓名：姓名1 / 姓名2 / 姓名3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封面插画为本材料生成的示意图；数据与案例来源见参考资料页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选题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不重复主题：细胞治疗与免疫治疗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我们选图一中的“疾病的细胞治疗与免疫治疗”，避开图二已出现主题。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图二已有：人口老龄化、食品安全、情绪与心理健康、人体实验、地中海贫血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本组选题：疾病的细胞治疗与免疫治疗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汇报重点：图片说明机制，实例证明疗效，风险与公平单独讨论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627632"/>
            <a:ext cx="4617720" cy="3703320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9712" y="1993392"/>
            <a:ext cx="137160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800">
                <a:solidFill>
                  <a:srgbClr val="C4EBE7"/>
                </a:solidFill>
                <a:latin typeface="SimHei"/>
              </a:rPr>
              <a:t>核心判断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9712" y="2633472"/>
            <a:ext cx="3794760" cy="11887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300">
                <a:solidFill>
                  <a:srgbClr val="FFFFFF"/>
                </a:solidFill>
                <a:latin typeface="SimHei"/>
              </a:rPr>
              <a:t>我们选图一中的“疾病的细胞治疗与免疫治疗”，避开图二已出现主题。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9712" y="4407408"/>
            <a:ext cx="3291840" cy="566928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5472" y="4590288"/>
            <a:ext cx="256032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  <a:latin typeface="SimHei"/>
              </a:rPr>
              <a:t>证据 + 风险 + 可及性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题目来源：课堂建议题目与已选题记录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背景数据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癌症负担解释了为什么需要新治疗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疾病负担上升，使医学不能只依赖传统杀伤式治疗。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ACS：2022 年全球约 2000 万新发癌症病例、约 970 万死亡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ACS：到 2050 年，全球新发病例预计约 3500 万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治疗难点：复发、耐药、转移、晚期疾病和患者差异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426464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图1_全球癌症负担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81195"/>
            <a:ext cx="4251960" cy="23790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资料：American Cancer Society Global Cancer Statistics 2024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治疗逻辑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从“外部杀伤”到“系统重塑”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免疫治疗与细胞治疗把人体免疫系统本身变成治疗工具。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传统治疗：手术、放疗、化疗直接处理病灶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免疫治疗：解除抑制、增强识别，让免疫系统重新攻击异常细胞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细胞治疗：采集、改造或扩增细胞，再回输患者体内发挥作用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627632"/>
            <a:ext cx="4617720" cy="3703320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9712" y="1993392"/>
            <a:ext cx="137160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800">
                <a:solidFill>
                  <a:srgbClr val="C4EBE7"/>
                </a:solidFill>
                <a:latin typeface="SimHei"/>
              </a:rPr>
              <a:t>核心判断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9712" y="2633472"/>
            <a:ext cx="3794760" cy="11887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300">
                <a:solidFill>
                  <a:srgbClr val="FFFFFF"/>
                </a:solidFill>
                <a:latin typeface="SimHei"/>
              </a:rPr>
              <a:t>免疫治疗与细胞治疗把人体免疫系统本身变成治疗工具。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9712" y="4407408"/>
            <a:ext cx="3291840" cy="566928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5472" y="4590288"/>
            <a:ext cx="256032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  <a:latin typeface="SimHei"/>
              </a:rPr>
              <a:t>证据 + 风险 + 可及性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资料：NCI Immunotherapy；NCI CAR T Cells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机制一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免疫检查点：给 T 细胞“松刹车”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癌细胞会借用免疫负调节机制逃逸，检查点抑制剂解除这种抑制。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关键词：CTLA-4、PD-1、PD-L1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Nobel 2018：这一方向被称为癌症治疗的新原则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代价：免疫系统被激活后，也可能攻击正常组织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426464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图2_免疫检查点示意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66010"/>
            <a:ext cx="4251960" cy="24094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资料：NCI Immunotherapy；Nobel Prize 2018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实例一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Pembrolizumab：按生物标志物用药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检查点抑制剂的一个关键进展，是治疗依据从器官部位扩展到分子特征。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FDA：2020 年加速批准 pembrolizumab 用于 TMB-H 实体瘤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KEYNOTE-158：102 名 TMB-H 患者 ORR 为 29%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反应持续性：57% 反应持续至少 12 个月，50% 至少 24 个月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426464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图4_临床案例证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92714"/>
            <a:ext cx="4251960" cy="23560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资料：FDA Pembrolizumab for TMB-H Solid Tumors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机制二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CAR-T：把 T 细胞改造成“活的药物”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CAR-T 的特殊之处在于，治疗材料是被工程化的活细胞。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流程：采集 T 细胞、加入 CAR、体外扩增、预处理、回输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目标：让 T 细胞识别 CD19 等肿瘤相关靶点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NCI：Kymriah 个体化制造流程约 22 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426464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图3_CAR-T流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27851"/>
            <a:ext cx="4251960" cy="24857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资料：NCI Kymriah approval article；NCI CAR T Cells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实例二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Kymriah：首个获批 CAR-T 的证据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Kymriah 证明工程化免疫细胞可以在高度限定的患者群体中产生强疗效。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适应证：25 岁及以下复发或难治 B 细胞急性淋巴细胞白血病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证据：63 名儿童和青年患者，3 个月总体缓解率为 83%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意义：这是 2017 年 FDA 批准的首个 CAR-T 疗法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426464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图4_临床案例证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92714"/>
            <a:ext cx="4251960" cy="23560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资料：NCI Kymriah approval article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实例三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Aucatzyl：疗效与风险必须一起讲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Aucatzyl 的批准说明适合展示“有效，但必须严密管理风险”。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适应证：成人复发或难治 B 细胞前体 ALL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疗效：65 名可评估患者中 27 名 3 个月内 CR，比例为 42%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安全性：CRS 75%，神经毒性 64%，ICANS 24%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426464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图5_风险数据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470454"/>
            <a:ext cx="4251960" cy="22005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资料：FDA Aucatzyl Approval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机制三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TIL：从患者肿瘤里找“已经认识敌人”的 T 细胞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TIL 与 CAR-T 的差别在于：TIL 来自肿瘤组织，CAR-T 多来自外周血并需基因工程改造。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TIL：从肿瘤样本中分离出 T 细胞，扩增后回输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CAR-T：从血液中采集 T 细胞，工程化加入识别受体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TIL 更接近“筛出并放大已有免疫反应”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426464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CI_TIL_therapy_infograph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27632"/>
            <a:ext cx="3886200" cy="3886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图片与资料：National Cancer Institute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实例四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Amtagvi：细胞治疗进入实体瘤的重要节点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Amtagvi 的意义是证明细胞治疗不只停留在血液肿瘤。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FDA：2024 年加速批准 lifileucel/Amtagvi 用于特定晚期黑色素瘤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73 名推荐剂量患者 ORR 为 31.5%，中位初始反应时间 1.5 个月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局限：需要确认性试验验证临床获益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426464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CI_TIL_therapy_infograph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27632"/>
            <a:ext cx="3886200" cy="3886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资料：FDA Lifileucel/Amtagvi Accelerated Approval；NCI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临床实践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患者路径：治疗变成跨流程协作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细胞治疗不是普通“开药”，而是临床、制造、质控、回输、随访的组合系统。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医生：判断适应证、分期、既往治疗和身体状态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医院与企业：完成采集、运输、制造、质控和回输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患者：面对等待周期、急性毒性处理和长期随访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426464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图6_患者路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93266"/>
            <a:ext cx="4251960" cy="235493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资料：NCI CAR T Cells；FDA 相关批准文件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为什么不能把它讲成“万能疗法”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越是强效治疗，越需要适应证边界、毒性管理和长期监测。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NCI：实体瘤 CAR-T 难点包括靶抗原、免疫抑制微环境、肿瘤异质性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FDA：BCMA/CD19 靶向自体 CAR-T 需黑框警告 T 细胞恶性肿瘤风险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FDA：接受相关治疗者应终身监测继发性恶性肿瘤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426464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图5_风险数据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470454"/>
            <a:ext cx="4251960" cy="22005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资料：NCI CAR T Cells；FDA Boxed Warning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伦理与公平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技术突破不等于公共价值已经实现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如果疗法只在少数中心、少数患者中可及，医学价值仍未完全转化为社会价值。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NCI 2024 文章报道：公司宣布 Amtagvi 单次治疗价格为 515,000 美元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现实门槛：治疗中心、身体条件、制造周期、保险支付、跨区域转诊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我们的态度：支持发展，但反对把探索性治疗包装成保证有效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426464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图6_患者路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93266"/>
            <a:ext cx="4251960" cy="235493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资料：NCI TIL approval article；FDA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未来趋势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未来不是只增加产品，而是让治疗更准、更安全、更可及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下一阶段的竞争重点，是实体瘤突破、毒性降低、制造提速和支付体系完善。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技术方向：现货型细胞治疗、基因编辑、联合免疫治疗、精准筛选患者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临床方向：在证据充分时前移治疗线，减少无效治疗消耗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制度方向：规范治疗中心、透明数据、长期登记随访和医保支付评估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627632"/>
            <a:ext cx="4617720" cy="3703320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9712" y="1993392"/>
            <a:ext cx="137160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800">
                <a:solidFill>
                  <a:srgbClr val="C4EBE7"/>
                </a:solidFill>
                <a:latin typeface="SimHei"/>
              </a:rPr>
              <a:t>核心判断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9712" y="2633472"/>
            <a:ext cx="3794760" cy="11887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300">
                <a:solidFill>
                  <a:srgbClr val="FFFFFF"/>
                </a:solidFill>
                <a:latin typeface="SimHei"/>
              </a:rPr>
              <a:t>下一阶段的竞争重点，是实体瘤突破、毒性降低、制造提速和支付体系完善。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9712" y="4407408"/>
            <a:ext cx="3291840" cy="566928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5472" y="4590288"/>
            <a:ext cx="256032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  <a:latin typeface="SimHei"/>
              </a:rPr>
              <a:t>证据 + 风险 + 可及性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综合资料：NCI；FDA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201168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7315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700">
                <a:solidFill>
                  <a:srgbClr val="12293A"/>
                </a:solidFill>
                <a:latin typeface="SimHei"/>
              </a:rPr>
              <a:t>我们支持，但不神化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371600"/>
            <a:ext cx="5532120" cy="86868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5074920" cy="3931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550">
                <a:solidFill>
                  <a:srgbClr val="12293A"/>
                </a:solidFill>
                <a:latin typeface="SimHei"/>
              </a:rPr>
              <a:t>细胞治疗与免疫治疗的价值，是把治疗从“外部打击疾病”推进到“重塑人体防御系统”。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42032"/>
            <a:ext cx="5440680" cy="2880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它已经在部分血液肿瘤、TMB-H 实体瘤和特定黑色素瘤中提供新选择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它仍受限于毒性、适应证、实体瘤难题、制造流程和费用可及性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b="0" sz="1520">
                <a:solidFill>
                  <a:srgbClr val="141A1F"/>
                </a:solidFill>
                <a:latin typeface="SimSun"/>
              </a:rPr>
              <a:t>• 评价标准：证据是否充分、风险是否透明、患者是否能公平获得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426464"/>
            <a:ext cx="4617720" cy="44805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图4_临床案例证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92714"/>
            <a:ext cx="4251960" cy="23560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综合资料：NCI；FDA；ACS；Nobel Prize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384048"/>
            <a:ext cx="12801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200">
                <a:solidFill>
                  <a:srgbClr val="1C908B"/>
                </a:solidFill>
                <a:latin typeface="SimHei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694944"/>
            <a:ext cx="2743200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800">
                <a:solidFill>
                  <a:srgbClr val="12293A"/>
                </a:solidFill>
                <a:latin typeface="SimHei"/>
              </a:rPr>
              <a:t>参考资料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6400800" cy="4389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0" sz="1500">
                <a:solidFill>
                  <a:srgbClr val="141A1F"/>
                </a:solidFill>
                <a:latin typeface="SimSun"/>
              </a:rPr>
              <a:t>1. ACS 全球癌症统计 2024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0" sz="1500">
                <a:solidFill>
                  <a:srgbClr val="141A1F"/>
                </a:solidFill>
                <a:latin typeface="SimSun"/>
              </a:rPr>
              <a:t>2. NCI 免疫治疗说明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0" sz="1500">
                <a:solidFill>
                  <a:srgbClr val="141A1F"/>
                </a:solidFill>
                <a:latin typeface="SimSun"/>
              </a:rPr>
              <a:t>3. Nobel Prize 2018 新闻稿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0" sz="1500">
                <a:solidFill>
                  <a:srgbClr val="141A1F"/>
                </a:solidFill>
                <a:latin typeface="SimSun"/>
              </a:rPr>
              <a:t>4. NCI Kymriah / CAR-T 资料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0" sz="1500">
                <a:solidFill>
                  <a:srgbClr val="141A1F"/>
                </a:solidFill>
                <a:latin typeface="SimSun"/>
              </a:rPr>
              <a:t>5. FDA Pembrolizumab TMB-H 批准说明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0" sz="1500">
                <a:solidFill>
                  <a:srgbClr val="141A1F"/>
                </a:solidFill>
                <a:latin typeface="SimSun"/>
              </a:rPr>
              <a:t>6. FDA Aucatzyl 批准说明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0" sz="1500">
                <a:solidFill>
                  <a:srgbClr val="141A1F"/>
                </a:solidFill>
                <a:latin typeface="SimSun"/>
              </a:rPr>
              <a:t>7. FDA Amtagvi / Lifileucel 批准说明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0" sz="1500">
                <a:solidFill>
                  <a:srgbClr val="141A1F"/>
                </a:solidFill>
                <a:latin typeface="SimSun"/>
              </a:rPr>
              <a:t>8. FDA CAR-T 黑框警告说明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0" sz="1500">
                <a:solidFill>
                  <a:srgbClr val="141A1F"/>
                </a:solidFill>
                <a:latin typeface="SimSun"/>
              </a:rPr>
              <a:t>9. NCI TIL 治疗文章与图片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1508760"/>
            <a:ext cx="3200400" cy="347472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9872" y="1920240"/>
            <a:ext cx="11887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1800">
                <a:solidFill>
                  <a:srgbClr val="1C908B"/>
                </a:solidFill>
                <a:latin typeface="SimHei"/>
              </a:rPr>
              <a:t>完整链接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9872" y="2514600"/>
            <a:ext cx="2148840" cy="8229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2000">
                <a:solidFill>
                  <a:srgbClr val="12293A"/>
                </a:solidFill>
                <a:latin typeface="SimHei"/>
              </a:rPr>
              <a:t>已写入《资料来源.md》和报告末尾。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19088"/>
            <a:ext cx="384048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1" sz="900">
                <a:solidFill>
                  <a:srgbClr val="596976"/>
                </a:solidFill>
                <a:latin typeface="SimHei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400800"/>
            <a:ext cx="104241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b="0" sz="850">
                <a:solidFill>
                  <a:srgbClr val="596976"/>
                </a:solidFill>
                <a:latin typeface="SimSun"/>
              </a:rPr>
              <a:t>完整链接见资料来源文件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