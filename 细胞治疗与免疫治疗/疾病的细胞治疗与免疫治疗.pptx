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05840" cy="109728"/>
          </a:xfrm>
          <a:prstGeom prst="rect">
            <a:avLst/>
          </a:prstGeom>
          <a:solidFill>
            <a:srgbClr val="C54F46"/>
          </a:solidFill>
          <a:ln w="12700">
            <a:solidFill>
              <a:srgbClr val="C54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59536"/>
            <a:ext cx="310896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500">
                <a:solidFill>
                  <a:srgbClr val="209692"/>
                </a:solidFill>
                <a:latin typeface="SimHei"/>
              </a:rPr>
              <a:t>医学发展史课程汇报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89888"/>
            <a:ext cx="7498079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3400">
                <a:solidFill>
                  <a:srgbClr val="132D40"/>
                </a:solidFill>
                <a:latin typeface="SimHei"/>
              </a:rPr>
              <a:t>疾病的细胞治疗与免疫治疗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2057400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1800">
                <a:solidFill>
                  <a:srgbClr val="606F7B"/>
                </a:solidFill>
                <a:latin typeface="SimHei"/>
              </a:rPr>
              <a:t>从“杀死肿瘤”到“训练免疫”：医学治疗逻辑的转变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834640"/>
            <a:ext cx="5623560" cy="1078992"/>
          </a:xfrm>
          <a:prstGeom prst="roundRect">
            <a:avLst/>
          </a:prstGeom>
          <a:solidFill>
            <a:srgbClr val="E5F2F1"/>
          </a:solidFill>
          <a:ln w="12700">
            <a:solidFill>
              <a:srgbClr val="BE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35808"/>
            <a:ext cx="777240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300">
                <a:solidFill>
                  <a:srgbClr val="209692"/>
                </a:solidFill>
                <a:latin typeface="SimHei"/>
              </a:rPr>
              <a:t>主论点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10128"/>
            <a:ext cx="4983480" cy="36576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700">
                <a:solidFill>
                  <a:srgbClr val="132D40"/>
                </a:solidFill>
                <a:latin typeface="SimHei"/>
              </a:rPr>
              <a:t>这不是“神奇疗法”的故事，而是治疗逻辑从外部杀伤转向重塑免疫系统的故事。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097280"/>
            <a:ext cx="2971800" cy="4297680"/>
          </a:xfrm>
          <a:prstGeom prst="roundRect">
            <a:avLst/>
          </a:prstGeom>
          <a:solidFill>
            <a:srgbClr val="132D40"/>
          </a:solidFill>
          <a:ln w="12700">
            <a:solidFill>
              <a:srgbClr val="13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1417320"/>
            <a:ext cx="146304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  <a:latin typeface="SimHei"/>
              </a:rPr>
              <a:t>汇报信息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1874519"/>
            <a:ext cx="228600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FFFFFF"/>
                </a:solidFill>
                <a:latin typeface="SimSun"/>
              </a:rPr>
              <a:t>小组人数：3 人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FFFFFF"/>
                </a:solidFill>
                <a:latin typeface="SimSun"/>
              </a:rPr>
              <a:t>演讲人数：2 人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FFFFFF"/>
                </a:solidFill>
                <a:latin typeface="SimSun"/>
              </a:rPr>
              <a:t>建议时长：10–15 分钟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FFFFFF"/>
                </a:solidFill>
                <a:latin typeface="SimSun"/>
              </a:rPr>
              <a:t>汇报人：姓名1 / 姓名2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FFFFFF"/>
                </a:solidFill>
                <a:latin typeface="SimSun"/>
              </a:rPr>
              <a:t>组员：姓名3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4754880"/>
            <a:ext cx="228600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1000">
                <a:solidFill>
                  <a:srgbClr val="AAE1DD"/>
                </a:solidFill>
                <a:latin typeface="SimSun"/>
              </a:rPr>
              <a:t>请在提交前替换姓名占位符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题目来源：课堂建议题目与已选题记录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为什么这个主题值得讲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疾病负担增长让医学不能只依赖传统治疗，需要能长期识别疾病的治疗系统。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2022 年全球约 2000 万新发癌症病例，约 970 万死亡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到 2050 年，全球新发癌症病例预计约 3500 万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治疗挑战：复发、耐药、转移和患者差异</a:t>
            </a:r>
          </a:p>
        </p:txBody>
      </p:sp>
      <p:pic>
        <p:nvPicPr>
          <p:cNvPr id="9" name="Picture 8" descr="全球癌症负担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72768"/>
            <a:ext cx="4846320" cy="26782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资料：American Cancer Society / IARC GLOBOCAN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核心观点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治疗逻辑发生了什么变化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传统治疗主要直接攻击病灶；免疫与细胞治疗则把人体系统本身变成治疗工具。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传统路径：切除、放射、化学药物直接杀伤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免疫路径：解除免疫抑制，让免疫系统重新识别病灶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细胞路径：体外改造或扩增细胞，再回输到患者体内发挥作用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755648"/>
            <a:ext cx="2148840" cy="2926080"/>
          </a:xfrm>
          <a:prstGeom prst="roundRect">
            <a:avLst/>
          </a:prstGeom>
          <a:solidFill>
            <a:srgbClr val="F8F1F0"/>
          </a:solidFill>
          <a:ln w="12700">
            <a:solidFill>
              <a:srgbClr val="E6C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98280" y="1755648"/>
            <a:ext cx="2148840" cy="29260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76288" y="2075688"/>
            <a:ext cx="128016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800">
                <a:solidFill>
                  <a:srgbClr val="C54F46"/>
                </a:solidFill>
                <a:latin typeface="SimHei"/>
              </a:rPr>
              <a:t>传统治疗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2834639"/>
            <a:ext cx="137160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400">
                <a:solidFill>
                  <a:srgbClr val="132D40"/>
                </a:solidFill>
                <a:latin typeface="SimHei"/>
              </a:rPr>
              <a:t>直接杀伤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3456432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161C20"/>
                </a:solidFill>
                <a:latin typeface="SimSun"/>
              </a:rPr>
              <a:t>手术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161C20"/>
                </a:solidFill>
                <a:latin typeface="SimSun"/>
              </a:rPr>
              <a:t>放疗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161C20"/>
                </a:solidFill>
                <a:latin typeface="SimSun"/>
              </a:rPr>
              <a:t>化疗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2075688"/>
            <a:ext cx="160020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800">
                <a:solidFill>
                  <a:srgbClr val="209692"/>
                </a:solidFill>
                <a:latin typeface="SimHei"/>
              </a:rPr>
              <a:t>免疫/细胞治疗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834639"/>
            <a:ext cx="137160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400">
                <a:solidFill>
                  <a:srgbClr val="132D40"/>
                </a:solidFill>
                <a:latin typeface="SimHei"/>
              </a:rPr>
              <a:t>系统重塑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3456432"/>
            <a:ext cx="15544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161C20"/>
                </a:solidFill>
                <a:latin typeface="SimSun"/>
              </a:rPr>
              <a:t>解除抑制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161C20"/>
                </a:solidFill>
                <a:latin typeface="SimSun"/>
              </a:rPr>
              <a:t>工程化细胞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500">
                <a:solidFill>
                  <a:srgbClr val="161C20"/>
                </a:solidFill>
                <a:latin typeface="SimSun"/>
              </a:rPr>
              <a:t>持续识别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5088" y="3099815"/>
            <a:ext cx="457200" cy="36576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2800">
                <a:solidFill>
                  <a:srgbClr val="606F7B"/>
                </a:solidFill>
                <a:latin typeface="SimHe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资料：NCI Immunotherapy；NCI CAR T Cells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发展线索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关键节点：概念走向临床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这类疗法的突破来自基础免疫学、基因工程和临床试验的连续积累。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早期思路：激活免疫系统对抗肿瘤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2017 年：首个 CAR-T 疗法获批用于特定白血病患者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2018 年：免疫检查点研究获得诺贝尔生理学或医学奖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2024 年：TIL 细胞治疗获 FDA 加速批准用于特定晚期黑色素瘤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3952" y="3063239"/>
            <a:ext cx="4480560" cy="45720"/>
          </a:xfrm>
          <a:prstGeom prst="rect">
            <a:avLst/>
          </a:prstGeom>
          <a:solidFill>
            <a:srgbClr val="CCD8DE"/>
          </a:solidFill>
          <a:ln w="12700">
            <a:solidFill>
              <a:srgbClr val="CC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73952" y="2907791"/>
            <a:ext cx="347472" cy="347472"/>
          </a:xfrm>
          <a:prstGeom prst="round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2404872"/>
            <a:ext cx="59436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400">
                <a:solidFill>
                  <a:srgbClr val="132D40"/>
                </a:solidFill>
                <a:latin typeface="SimHei"/>
              </a:rPr>
              <a:t>早期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1344" y="3474720"/>
            <a:ext cx="1005840" cy="59436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0" sz="1200">
                <a:solidFill>
                  <a:srgbClr val="161C20"/>
                </a:solidFill>
                <a:latin typeface="SimSun"/>
              </a:rPr>
              <a:t>激活免疫抗肿瘤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91272" y="2907791"/>
            <a:ext cx="347472" cy="347472"/>
          </a:xfrm>
          <a:prstGeom prst="round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5552" y="2404872"/>
            <a:ext cx="59436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400">
                <a:solidFill>
                  <a:srgbClr val="132D40"/>
                </a:solidFill>
                <a:latin typeface="SimHei"/>
              </a:rPr>
              <a:t>2017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98664" y="3474720"/>
            <a:ext cx="1005840" cy="59436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0" sz="1200">
                <a:solidFill>
                  <a:srgbClr val="161C20"/>
                </a:solidFill>
                <a:latin typeface="SimSun"/>
              </a:rPr>
              <a:t>首个 CAR-T 获批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08592" y="2907791"/>
            <a:ext cx="347472" cy="347472"/>
          </a:xfrm>
          <a:prstGeom prst="round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2404872"/>
            <a:ext cx="59436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400">
                <a:solidFill>
                  <a:srgbClr val="132D40"/>
                </a:solidFill>
                <a:latin typeface="SimHei"/>
              </a:rPr>
              <a:t>2018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3474720"/>
            <a:ext cx="1005840" cy="59436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0" sz="1200">
                <a:solidFill>
                  <a:srgbClr val="161C20"/>
                </a:solidFill>
                <a:latin typeface="SimSun"/>
              </a:rPr>
              <a:t>诺贝尔奖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25912" y="2907791"/>
            <a:ext cx="347472" cy="347472"/>
          </a:xfrm>
          <a:prstGeom prst="round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0192" y="2404872"/>
            <a:ext cx="59436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400">
                <a:solidFill>
                  <a:srgbClr val="132D40"/>
                </a:solidFill>
                <a:latin typeface="SimHei"/>
              </a:rP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3304" y="3474720"/>
            <a:ext cx="1005840" cy="59436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0" sz="1200">
                <a:solidFill>
                  <a:srgbClr val="161C20"/>
                </a:solidFill>
                <a:latin typeface="SimSun"/>
              </a:rPr>
              <a:t>TIL 治疗获批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800600"/>
            <a:ext cx="338328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800">
                <a:solidFill>
                  <a:srgbClr val="132D40"/>
                </a:solidFill>
                <a:latin typeface="SimHei"/>
              </a:rPr>
              <a:t>从观察现象到工程化治疗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资料：Nobel Prize 2018；NCI；FDA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机制一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免疫检查点：给免疫系统“松刹车”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癌细胞会利用免疫系统的负调节机制逃避免疫攻击，检查点抑制剂的作用是解除这种抑制。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CTLA-4、PD-1、PD-L1 是常见关键词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治疗重点不是直接毒杀癌细胞，而是恢复 T 细胞攻击能力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风险也来自同一机制：免疫系统过度活跃时可能攻击正常组织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691640"/>
            <a:ext cx="4526280" cy="342900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03720" y="2331720"/>
            <a:ext cx="1325880" cy="1325880"/>
          </a:xfrm>
          <a:prstGeom prst="round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05472" y="2788920"/>
            <a:ext cx="73152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SimHei"/>
              </a:rPr>
              <a:t>T 细胞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2331720"/>
            <a:ext cx="1325880" cy="1325880"/>
          </a:xfrm>
          <a:prstGeom prst="roundRect">
            <a:avLst/>
          </a:prstGeom>
          <a:solidFill>
            <a:srgbClr val="C54F46"/>
          </a:solidFill>
          <a:ln w="12700">
            <a:solidFill>
              <a:srgbClr val="C54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36608" y="2788920"/>
            <a:ext cx="749808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SimHei"/>
              </a:rPr>
              <a:t>癌细胞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514600"/>
            <a:ext cx="100584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200">
                <a:solidFill>
                  <a:srgbClr val="606F7B"/>
                </a:solidFill>
                <a:latin typeface="SimHei"/>
              </a:rPr>
              <a:t>PD-1 / PD-L1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3218688"/>
            <a:ext cx="1097280" cy="5029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500">
                <a:solidFill>
                  <a:srgbClr val="132D40"/>
                </a:solidFill>
                <a:latin typeface="SimHei"/>
              </a:rPr>
              <a:t>解除“刹车”后
恢复攻击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069080"/>
            <a:ext cx="105156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0" sz="1200">
                <a:solidFill>
                  <a:srgbClr val="C54F46"/>
                </a:solidFill>
                <a:latin typeface="SimHei"/>
              </a:rPr>
              <a:t>抑制信号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资料：NCI Immunotherapy；Nobel Prize 2018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机制二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CAR-T：把 T 细胞改造成“活的药物”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CAR-T 的标志性意义在于：治疗材料不是普通化学分子，而是被工程化的活细胞。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采集患者 T 细胞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通过基因工程加入可识别肿瘤抗原的 CAR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体外扩增后回输，制造周期通常约 3 到 5 周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在部分血液肿瘤中已经显示出显著疗效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828800"/>
            <a:ext cx="987552" cy="987552"/>
          </a:xfrm>
          <a:prstGeom prst="round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5976" y="1993392"/>
            <a:ext cx="365760" cy="2743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900">
                <a:solidFill>
                  <a:srgbClr val="FFFFFF"/>
                </a:solidFill>
                <a:latin typeface="Sim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035808"/>
            <a:ext cx="1097280" cy="56692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300">
                <a:solidFill>
                  <a:srgbClr val="132D40"/>
                </a:solidFill>
                <a:latin typeface="SimHei"/>
              </a:rPr>
              <a:t>采集
T 细胞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03120"/>
            <a:ext cx="27432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000">
                <a:solidFill>
                  <a:srgbClr val="606F7B"/>
                </a:solidFill>
                <a:latin typeface="Sim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16952" y="1828800"/>
            <a:ext cx="987552" cy="987552"/>
          </a:xfrm>
          <a:prstGeom prst="round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7848" y="1993392"/>
            <a:ext cx="365760" cy="2743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900">
                <a:solidFill>
                  <a:srgbClr val="FFFFFF"/>
                </a:solidFill>
                <a:latin typeface="Sim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3035808"/>
            <a:ext cx="1097280" cy="56692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300">
                <a:solidFill>
                  <a:srgbClr val="132D40"/>
                </a:solidFill>
                <a:latin typeface="SimHei"/>
              </a:rPr>
              <a:t>基因工程
加入 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7072" y="2103120"/>
            <a:ext cx="27432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000">
                <a:solidFill>
                  <a:srgbClr val="606F7B"/>
                </a:solidFill>
                <a:latin typeface="Sim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78824" y="1828800"/>
            <a:ext cx="987552" cy="987552"/>
          </a:xfrm>
          <a:prstGeom prst="round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1993392"/>
            <a:ext cx="365760" cy="2743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900">
                <a:solidFill>
                  <a:srgbClr val="FFFFFF"/>
                </a:solidFill>
                <a:latin typeface="Sim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3104" y="3035808"/>
            <a:ext cx="1097280" cy="56692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300">
                <a:solidFill>
                  <a:srgbClr val="132D40"/>
                </a:solidFill>
                <a:latin typeface="SimHei"/>
              </a:rPr>
              <a:t>体外
扩增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38944" y="2103120"/>
            <a:ext cx="27432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000">
                <a:solidFill>
                  <a:srgbClr val="606F7B"/>
                </a:solidFill>
                <a:latin typeface="SimHe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0696" y="1828800"/>
            <a:ext cx="987552" cy="987552"/>
          </a:xfrm>
          <a:prstGeom prst="roundRect">
            <a:avLst/>
          </a:prstGeom>
          <a:solidFill>
            <a:srgbClr val="4E955E"/>
          </a:solidFill>
          <a:ln w="12700">
            <a:solidFill>
              <a:srgbClr val="4E9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51592" y="1993392"/>
            <a:ext cx="365760" cy="2743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900">
                <a:solidFill>
                  <a:srgbClr val="FFFFFF"/>
                </a:solidFill>
                <a:latin typeface="Sim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94976" y="3035808"/>
            <a:ext cx="1097280" cy="56692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300">
                <a:solidFill>
                  <a:srgbClr val="132D40"/>
                </a:solidFill>
                <a:latin typeface="SimHei"/>
              </a:rPr>
              <a:t>回输
患者体内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1968" y="4206240"/>
            <a:ext cx="4160520" cy="658368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407408"/>
            <a:ext cx="320040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800">
                <a:solidFill>
                  <a:srgbClr val="132D40"/>
                </a:solidFill>
                <a:latin typeface="SimHei"/>
              </a:rPr>
              <a:t>制造周期通常约 3 到 5 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资料：NCI CAR T Cells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案例数据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临床证据：不是神话，也不是空想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已有疗法在特定病种中带来真实缓解，但疗效依赖适应证和患者条件。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Aucatzyl：65 名患者中 27 名在 3 个月内达到完全缓解，比例为 42%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Amtagvi：推荐剂量人群客观缓解率为 31.5%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NCI 报道：部分淋巴瘤 CAR-T 研究出现长期无癌证据生存</a:t>
            </a:r>
          </a:p>
        </p:txBody>
      </p:sp>
      <p:pic>
        <p:nvPicPr>
          <p:cNvPr id="9" name="Picture 8" descr="临床证据举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72768"/>
            <a:ext cx="4846320" cy="26782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资料：FDA；NCI CAR T Cells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临床实践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患者路径也被改变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细胞治疗把“用药”变成了跨科室、跨流程的医疗工程。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医生需要判断适应证、疾病阶段、既往治疗史和身体承受能力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医院需要完成采集、运输、制造、质控、回输和不良反应处理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患者需要面对等待周期、随访监测和复发风险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37360"/>
            <a:ext cx="932688" cy="25786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737360"/>
            <a:ext cx="932688" cy="530352"/>
          </a:xfrm>
          <a:prstGeom prst="round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901952"/>
            <a:ext cx="59436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  <a:latin typeface="SimHei"/>
              </a:rPr>
              <a:t>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743200"/>
            <a:ext cx="713232" cy="10058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400">
                <a:solidFill>
                  <a:srgbClr val="132D40"/>
                </a:solidFill>
                <a:latin typeface="SimHei"/>
              </a:rPr>
              <a:t>适应证
身体状态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07808" y="1737360"/>
            <a:ext cx="932688" cy="25786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07808" y="1737360"/>
            <a:ext cx="932688" cy="530352"/>
          </a:xfrm>
          <a:prstGeom prst="roundRect">
            <a:avLst/>
          </a:prstGeom>
          <a:solidFill>
            <a:srgbClr val="132D40"/>
          </a:solidFill>
          <a:ln w="12700">
            <a:solidFill>
              <a:srgbClr val="13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1901952"/>
            <a:ext cx="59436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  <a:latin typeface="SimHei"/>
              </a:rPr>
              <a:t>制造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7536" y="2743200"/>
            <a:ext cx="713232" cy="10058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400">
                <a:solidFill>
                  <a:srgbClr val="132D40"/>
                </a:solidFill>
                <a:latin typeface="SimHei"/>
              </a:rPr>
              <a:t>采集
运输
质控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14816" y="1737360"/>
            <a:ext cx="932688" cy="25786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14816" y="1737360"/>
            <a:ext cx="932688" cy="530352"/>
          </a:xfrm>
          <a:prstGeom prst="round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9408" y="1901952"/>
            <a:ext cx="59436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  <a:latin typeface="SimHei"/>
              </a:rPr>
              <a:t>治疗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2743200"/>
            <a:ext cx="713232" cy="10058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400">
                <a:solidFill>
                  <a:srgbClr val="132D40"/>
                </a:solidFill>
                <a:latin typeface="SimHei"/>
              </a:rPr>
              <a:t>预处理
回输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21824" y="1737360"/>
            <a:ext cx="932688" cy="25786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21824" y="1737360"/>
            <a:ext cx="932688" cy="530352"/>
          </a:xfrm>
          <a:prstGeom prst="roundRect">
            <a:avLst/>
          </a:prstGeom>
          <a:solidFill>
            <a:srgbClr val="132D40"/>
          </a:solidFill>
          <a:ln w="12700">
            <a:solidFill>
              <a:srgbClr val="13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86416" y="1901952"/>
            <a:ext cx="59436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  <a:latin typeface="SimHei"/>
              </a:rPr>
              <a:t>随访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31552" y="2743200"/>
            <a:ext cx="713232" cy="10058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400">
                <a:solidFill>
                  <a:srgbClr val="132D40"/>
                </a:solidFill>
                <a:latin typeface="SimHei"/>
              </a:rPr>
              <a:t>毒性
复发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800600"/>
            <a:ext cx="356616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900">
                <a:solidFill>
                  <a:srgbClr val="132D40"/>
                </a:solidFill>
                <a:latin typeface="SimHei"/>
              </a:rPr>
              <a:t>治疗变成跨流程协作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资料：NCI CAR T Cells；FDA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风险必须放在同一张桌面上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清醒的态度是：疗效越强，越需要严密证据、监管和长期随访。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常见严重风险包括细胞因子释放综合征和神经毒性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FDA 要求部分 CAR-T 产品加入 T 细胞恶性肿瘤风险黑框警告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实体瘤进展较慢，原因包括靶抗原选择、肿瘤微环境和肿瘤异质性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00784"/>
            <a:ext cx="4389120" cy="804672"/>
          </a:xfrm>
          <a:prstGeom prst="roundRect">
            <a:avLst/>
          </a:prstGeom>
          <a:solidFill>
            <a:srgbClr val="F8F1F0"/>
          </a:solidFill>
          <a:ln w="12700">
            <a:solidFill>
              <a:srgbClr val="E6C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39128" y="1938528"/>
            <a:ext cx="123444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500">
                <a:solidFill>
                  <a:srgbClr val="C54F46"/>
                </a:solidFill>
                <a:latin typeface="SimHei"/>
              </a:rPr>
              <a:t>急性毒性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865376"/>
            <a:ext cx="1920240" cy="38404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500">
                <a:solidFill>
                  <a:srgbClr val="132D40"/>
                </a:solidFill>
                <a:latin typeface="SimHei"/>
              </a:rPr>
              <a:t>CRS
ICANS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779776"/>
            <a:ext cx="4389120" cy="80467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3017520"/>
            <a:ext cx="123444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500">
                <a:solidFill>
                  <a:srgbClr val="209692"/>
                </a:solidFill>
                <a:latin typeface="SimHei"/>
              </a:rPr>
              <a:t>长期风险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944368"/>
            <a:ext cx="1920240" cy="38404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500">
                <a:solidFill>
                  <a:srgbClr val="132D40"/>
                </a:solidFill>
                <a:latin typeface="SimHei"/>
              </a:rPr>
              <a:t>继发性
恶性肿瘤监测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858768"/>
            <a:ext cx="4389120" cy="80467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4096511"/>
            <a:ext cx="123444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500">
                <a:solidFill>
                  <a:srgbClr val="209692"/>
                </a:solidFill>
                <a:latin typeface="SimHei"/>
              </a:rPr>
              <a:t>适应证限制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023359"/>
            <a:ext cx="1920240" cy="38404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b="1" sz="1500">
                <a:solidFill>
                  <a:srgbClr val="132D40"/>
                </a:solidFill>
                <a:latin typeface="SimHei"/>
              </a:rPr>
              <a:t>实体瘤
进展较慢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资料：FDA Boxed Warning；NCI CAR T Cells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态度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伦理与公平：不能只看技术胜利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如果一种疗法只有少数人能及时获得，它的医学价值就还没有完全转化为公共价值。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应坚持适应证边界，不把探索性治疗包装成保证有效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应公开疗效、不良反应和随访数据，避免只讲成功故事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应推动规范治疗中心、医保支付和区域转诊能力建设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37360"/>
            <a:ext cx="4480560" cy="82296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975104"/>
            <a:ext cx="91440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500">
                <a:solidFill>
                  <a:srgbClr val="209692"/>
                </a:solidFill>
                <a:latin typeface="SimHei"/>
              </a:rPr>
              <a:t>不夸大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956815"/>
            <a:ext cx="27432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1400">
                <a:solidFill>
                  <a:srgbClr val="132D40"/>
                </a:solidFill>
                <a:latin typeface="SimSun"/>
              </a:rPr>
              <a:t>不把探索性治疗说成保证有效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816352"/>
            <a:ext cx="4480560" cy="82296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054096"/>
            <a:ext cx="91440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500">
                <a:solidFill>
                  <a:srgbClr val="209692"/>
                </a:solidFill>
                <a:latin typeface="SimHei"/>
              </a:rPr>
              <a:t>讲透明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035808"/>
            <a:ext cx="27432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1400">
                <a:solidFill>
                  <a:srgbClr val="132D40"/>
                </a:solidFill>
                <a:latin typeface="SimSun"/>
              </a:rPr>
              <a:t>公开疗效、不良反应和随访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895344"/>
            <a:ext cx="4480560" cy="82296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4133087"/>
            <a:ext cx="91440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500">
                <a:solidFill>
                  <a:srgbClr val="209692"/>
                </a:solidFill>
                <a:latin typeface="SimHei"/>
              </a:rPr>
              <a:t>重可及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114800"/>
            <a:ext cx="27432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1400">
                <a:solidFill>
                  <a:srgbClr val="132D40"/>
                </a:solidFill>
                <a:latin typeface="SimSun"/>
              </a:rPr>
              <a:t>规范中心、支付和转诊能力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观点依据：临床试验数据、FDA 风险提示与现实医疗流程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未来方向：更快、更准、更可及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未来突破不只是再增加产品数量，而是降低毒性、扩大病种、缩短制造和改善可及性。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现货型细胞治疗：减少等待时间，提升规模化可能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实体瘤突破：解决靶点、浸润和免疫抑制微环境问题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更早线治疗：在证据充分时，让患者少经历无效治疗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非肿瘤应用：向自身免疫病等领域延伸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737360"/>
            <a:ext cx="2057400" cy="107899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6248" y="1938528"/>
            <a:ext cx="640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700">
                <a:solidFill>
                  <a:srgbClr val="209692"/>
                </a:solidFill>
                <a:latin typeface="SimHei"/>
              </a:rPr>
              <a:t>更快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2359152"/>
            <a:ext cx="1572768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1250">
                <a:solidFill>
                  <a:srgbClr val="132D40"/>
                </a:solidFill>
                <a:latin typeface="SimSun"/>
              </a:rPr>
              <a:t>现货型细胞治疗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737360"/>
            <a:ext cx="2057400" cy="107899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1938528"/>
            <a:ext cx="640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700">
                <a:solidFill>
                  <a:srgbClr val="209692"/>
                </a:solidFill>
                <a:latin typeface="SimHei"/>
              </a:rPr>
              <a:t>更准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2359152"/>
            <a:ext cx="1572768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1250">
                <a:solidFill>
                  <a:srgbClr val="132D40"/>
                </a:solidFill>
                <a:latin typeface="SimSun"/>
              </a:rPr>
              <a:t>实体瘤靶点与微环境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246120"/>
            <a:ext cx="2057400" cy="107899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447288"/>
            <a:ext cx="640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700">
                <a:solidFill>
                  <a:srgbClr val="209692"/>
                </a:solidFill>
                <a:latin typeface="SimHei"/>
              </a:rPr>
              <a:t>更可及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867911"/>
            <a:ext cx="1572768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1250">
                <a:solidFill>
                  <a:srgbClr val="132D40"/>
                </a:solidFill>
                <a:latin typeface="SimSun"/>
              </a:rPr>
              <a:t>规范化路径与支付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3246120"/>
            <a:ext cx="2057400" cy="107899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87968" y="3447288"/>
            <a:ext cx="640080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700">
                <a:solidFill>
                  <a:srgbClr val="209692"/>
                </a:solidFill>
                <a:latin typeface="SimHei"/>
              </a:rPr>
              <a:t>更广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3867911"/>
            <a:ext cx="1572768" cy="2286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1250">
                <a:solidFill>
                  <a:srgbClr val="132D40"/>
                </a:solidFill>
                <a:latin typeface="SimSun"/>
              </a:rPr>
              <a:t>自身免疫病等领域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资料：NCI CAR T Cells；NCI Immunotherapy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结论：我们支持，但不神化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细胞治疗与免疫治疗的核心价值，是让医学从“外部打击疾病”走向“重塑人体防御系统”。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它已经在部分血液肿瘤和特定实体瘤中改变治疗选择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它仍受限于安全性、适应证、费用压力、制造流程和医疗资源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我们的态度：支持在严格证据和规范监管下发展，并把公平可及作为评价标准之一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91640"/>
            <a:ext cx="4526280" cy="3520440"/>
          </a:xfrm>
          <a:prstGeom prst="roundRect">
            <a:avLst/>
          </a:prstGeom>
          <a:solidFill>
            <a:srgbClr val="132D40"/>
          </a:solidFill>
          <a:ln w="12700">
            <a:solidFill>
              <a:srgbClr val="13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2084831"/>
            <a:ext cx="1554480" cy="3200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900">
                <a:solidFill>
                  <a:srgbClr val="AAE1DD"/>
                </a:solidFill>
                <a:latin typeface="SimHei"/>
              </a:rPr>
              <a:t>我们的判断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743200"/>
            <a:ext cx="3657600" cy="1737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800">
                <a:solidFill>
                  <a:srgbClr val="FFFFFF"/>
                </a:solidFill>
                <a:latin typeface="SimHei"/>
              </a:rPr>
              <a:t>支持发展，但不神化。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800">
                <a:solidFill>
                  <a:srgbClr val="FFFFFF"/>
                </a:solidFill>
                <a:latin typeface="SimHei"/>
              </a:rPr>
              <a:t>证据充分处积极应用。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800">
                <a:solidFill>
                  <a:srgbClr val="FFFFFF"/>
                </a:solidFill>
                <a:latin typeface="SimHei"/>
              </a:rPr>
              <a:t>证据不足处保持审慎。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800">
                <a:solidFill>
                  <a:srgbClr val="FFFFFF"/>
                </a:solidFill>
                <a:latin typeface="SimHei"/>
              </a:rPr>
              <a:t>公平可及应成为评价标准。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综合资料：NCI；FDA；ACS；IARC；Nobel Prize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9692"/>
          </a:solidFill>
          <a:ln w="12700">
            <a:solidFill>
              <a:srgbClr val="209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82880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200">
                <a:solidFill>
                  <a:srgbClr val="209692"/>
                </a:solidFill>
                <a:latin typeface="SimHei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22376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2800">
                <a:solidFill>
                  <a:srgbClr val="132D40"/>
                </a:solidFill>
                <a:latin typeface="SimHei"/>
              </a:rPr>
              <a:t>参考资料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89888"/>
            <a:ext cx="5486400" cy="868680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C4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5074920" cy="3931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1600">
                <a:solidFill>
                  <a:srgbClr val="132D40"/>
                </a:solidFill>
                <a:latin typeface="SimHei"/>
              </a:rPr>
              <a:t>本汇报使用公开医学机构与监管机构资料。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53949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ACS 全球癌症统计 2024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IARC GLOBOCAN 2022 世界事实表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NCI 免疫治疗说明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b="0" sz="1600">
                <a:solidFill>
                  <a:srgbClr val="161C20"/>
                </a:solidFill>
                <a:latin typeface="SimSun"/>
              </a:rPr>
              <a:t>· NCI CAR-T 细胞治疗说明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17320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A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19072"/>
            <a:ext cx="4069080" cy="3840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96000"/>
              </a:lnSpc>
              <a:spcAft>
                <a:spcPts val="700"/>
              </a:spcAft>
            </a:pPr>
            <a:r>
              <a:rPr b="0" sz="1050">
                <a:solidFill>
                  <a:srgbClr val="161C20"/>
                </a:solidFill>
                <a:latin typeface="SimSun"/>
              </a:rPr>
              <a:t>1. ACS 全球癌症统计 2024</a:t>
            </a:r>
          </a:p>
          <a:p>
            <a:pPr>
              <a:lnSpc>
                <a:spcPct val="96000"/>
              </a:lnSpc>
              <a:spcAft>
                <a:spcPts val="700"/>
              </a:spcAft>
            </a:pPr>
            <a:r>
              <a:rPr b="0" sz="1050">
                <a:solidFill>
                  <a:srgbClr val="161C20"/>
                </a:solidFill>
                <a:latin typeface="SimSun"/>
              </a:rPr>
              <a:t>2. IARC GLOBOCAN 2022 世界事实表</a:t>
            </a:r>
          </a:p>
          <a:p>
            <a:pPr>
              <a:lnSpc>
                <a:spcPct val="96000"/>
              </a:lnSpc>
              <a:spcAft>
                <a:spcPts val="700"/>
              </a:spcAft>
            </a:pPr>
            <a:r>
              <a:rPr b="0" sz="1050">
                <a:solidFill>
                  <a:srgbClr val="161C20"/>
                </a:solidFill>
                <a:latin typeface="SimSun"/>
              </a:rPr>
              <a:t>3. NCI 免疫治疗说明</a:t>
            </a:r>
          </a:p>
          <a:p>
            <a:pPr>
              <a:lnSpc>
                <a:spcPct val="96000"/>
              </a:lnSpc>
              <a:spcAft>
                <a:spcPts val="700"/>
              </a:spcAft>
            </a:pPr>
            <a:r>
              <a:rPr b="0" sz="1050">
                <a:solidFill>
                  <a:srgbClr val="161C20"/>
                </a:solidFill>
                <a:latin typeface="SimSun"/>
              </a:rPr>
              <a:t>4. NCI CAR-T 细胞治疗说明</a:t>
            </a:r>
          </a:p>
          <a:p>
            <a:pPr>
              <a:lnSpc>
                <a:spcPct val="96000"/>
              </a:lnSpc>
              <a:spcAft>
                <a:spcPts val="700"/>
              </a:spcAft>
            </a:pPr>
            <a:r>
              <a:rPr b="0" sz="1050">
                <a:solidFill>
                  <a:srgbClr val="161C20"/>
                </a:solidFill>
                <a:latin typeface="SimSun"/>
              </a:rPr>
              <a:t>5. FDA Amtagvi 批准公告</a:t>
            </a:r>
          </a:p>
          <a:p>
            <a:pPr>
              <a:lnSpc>
                <a:spcPct val="96000"/>
              </a:lnSpc>
              <a:spcAft>
                <a:spcPts val="700"/>
              </a:spcAft>
            </a:pPr>
            <a:r>
              <a:rPr b="0" sz="1050">
                <a:solidFill>
                  <a:srgbClr val="161C20"/>
                </a:solidFill>
                <a:latin typeface="SimSun"/>
              </a:rPr>
              <a:t>6. FDA Aucatzyl 批准说明</a:t>
            </a:r>
          </a:p>
          <a:p>
            <a:pPr>
              <a:lnSpc>
                <a:spcPct val="96000"/>
              </a:lnSpc>
              <a:spcAft>
                <a:spcPts val="700"/>
              </a:spcAft>
            </a:pPr>
            <a:r>
              <a:rPr b="0" sz="1050">
                <a:solidFill>
                  <a:srgbClr val="161C20"/>
                </a:solidFill>
                <a:latin typeface="SimSun"/>
              </a:rPr>
              <a:t>7. FDA CAR-T 黑框警告说明</a:t>
            </a:r>
          </a:p>
          <a:p>
            <a:pPr>
              <a:lnSpc>
                <a:spcPct val="96000"/>
              </a:lnSpc>
              <a:spcAft>
                <a:spcPts val="700"/>
              </a:spcAft>
            </a:pPr>
            <a:r>
              <a:rPr b="0" sz="1050">
                <a:solidFill>
                  <a:srgbClr val="161C20"/>
                </a:solidFill>
                <a:latin typeface="SimSun"/>
              </a:rPr>
              <a:t>8. 诺贝尔奖 2018 年新闻稿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355080"/>
            <a:ext cx="411480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1" sz="900">
                <a:solidFill>
                  <a:srgbClr val="606F7B"/>
                </a:solidFill>
                <a:latin typeface="SimHe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27648"/>
            <a:ext cx="9875520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b="0" sz="850">
                <a:solidFill>
                  <a:srgbClr val="606F7B"/>
                </a:solidFill>
                <a:latin typeface="SimSun"/>
              </a:rPr>
              <a:t>完整链接见报告与资料来源文件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