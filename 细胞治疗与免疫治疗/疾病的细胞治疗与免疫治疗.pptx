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1365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>
            <a:spLocks noGrp="1"/>
          </p:cNvSpPr>
          <p:nvPr/>
        </p:nvSpPr>
        <p:spPr>
          <a:xfrm>
            <a:off x="502920" y="530352"/>
            <a:ext cx="6629400" cy="5440680"/>
          </a:xfrm>
          <a:prstGeom prst="roundRect">
            <a:avLst/>
          </a:prstGeom>
          <a:solidFill>
            <a:srgbClr val="12293A"/>
          </a:solidFill>
          <a:ln w="12700">
            <a:solidFill>
              <a:srgbClr val="12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822960" y="841248"/>
            <a:ext cx="27432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C4EBE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医学发展史课程汇报</a:t>
            </a:r>
            <a:endParaRPr sz="1400" b="1">
              <a:solidFill>
                <a:srgbClr val="C4EBE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822960" y="1325880"/>
            <a:ext cx="5532120" cy="6400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33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疾病的细胞治疗与免疫治疗</a:t>
            </a:r>
            <a:endParaRPr sz="33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841248" y="2084831"/>
            <a:ext cx="5486400" cy="4206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65" b="0">
                <a:solidFill>
                  <a:srgbClr val="D8EEF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从“杀死肿瘤”到“训练免疫”：医学治疗逻辑的转变</a:t>
            </a:r>
            <a:endParaRPr sz="1165" b="0">
              <a:solidFill>
                <a:srgbClr val="D8EEF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859536" y="2999232"/>
            <a:ext cx="5394960" cy="1024128"/>
          </a:xfrm>
          <a:prstGeom prst="round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1097280" y="3182112"/>
            <a:ext cx="100584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260" b="1">
                <a:solidFill>
                  <a:srgbClr val="C4EBE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核心观点</a:t>
            </a:r>
            <a:endParaRPr sz="1260" b="1">
              <a:solidFill>
                <a:srgbClr val="C4EBE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1005840" y="3562985"/>
            <a:ext cx="5122545" cy="529590"/>
          </a:xfrm>
          <a:prstGeom prst="rect">
            <a:avLst/>
          </a:prstGeom>
          <a:noFill/>
        </p:spPr>
        <p:txBody>
          <a:bodyPr wrap="square" lIns="27432" tIns="9144" rIns="27432" bIns="9144" anchor="ctr">
            <a:noAutofit/>
          </a:bodyPr>
          <a:lstStyle/>
          <a:p>
            <a:pPr algn="l">
              <a:buNone/>
            </a:pPr>
            <a:r>
              <a:rPr sz="94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价值不只是新增几种药物，而是改变医学治疗逻辑；证据、毒性管理、长期随访和公平可及必须同时判断。</a:t>
            </a:r>
            <a:endParaRPr sz="94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932688" y="4462272"/>
            <a:ext cx="4297680" cy="28981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sz="1300" b="0">
                <a:solidFill>
                  <a:srgbClr val="E2F2F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组员：张思成 </a:t>
            </a:r>
            <a:r>
              <a:rPr sz="1300">
                <a:solidFill>
                  <a:srgbClr val="E2F2F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/ 程宇轩</a:t>
            </a:r>
            <a:r>
              <a:rPr sz="1300">
                <a:solidFill>
                  <a:srgbClr val="E2F2F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300" b="0">
                <a:solidFill>
                  <a:srgbClr val="E2F2F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 陈浩文</a:t>
            </a:r>
            <a:endParaRPr sz="1300" b="0">
              <a:solidFill>
                <a:srgbClr val="E2F2F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457200" y="6419088"/>
            <a:ext cx="54864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主线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为什么这是医学史问题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6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治疗对象从“病灶本身”扩展到“病灶与免疫系统之间的关系”。</a:t>
            </a:r>
            <a:endParaRPr sz="116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822960" y="2240280"/>
            <a:ext cx="4434840" cy="2788920"/>
          </a:xfrm>
          <a:prstGeom prst="roundRect">
            <a:avLst/>
          </a:prstGeom>
          <a:solidFill>
            <a:srgbClr val="F7EFEE"/>
          </a:solidFill>
          <a:ln w="12700">
            <a:solidFill>
              <a:srgbClr val="E1C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170432" y="2578608"/>
            <a:ext cx="1188720" cy="3230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C04A4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传统逻辑</a:t>
            </a:r>
            <a:endParaRPr sz="2000" b="1">
              <a:solidFill>
                <a:srgbClr val="C04A4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1170432" y="3090672"/>
            <a:ext cx="2194560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直接处理病灶</a:t>
            </a:r>
            <a:endParaRPr sz="180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1190625" y="3714750"/>
            <a:ext cx="3381375" cy="838200"/>
          </a:xfrm>
          <a:prstGeom prst="rect">
            <a:avLst/>
          </a:prstGeom>
          <a:noFill/>
        </p:spPr>
        <p:txBody>
          <a:bodyPr wrap="square" lIns="36576" tIns="9144" rIns="36576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sz="116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手术：切除病灶</a:t>
            </a:r>
            <a:endParaRPr sz="116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sz="116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放疗：破坏 DNA</a:t>
            </a:r>
            <a:endParaRPr sz="116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sz="116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化疗：抑制快速增殖</a:t>
            </a:r>
            <a:endParaRPr sz="116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5596128" y="3310128"/>
            <a:ext cx="640080" cy="5364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340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endParaRPr sz="340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446520" y="2240280"/>
            <a:ext cx="4434840" cy="2788920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C6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812280" y="2578608"/>
            <a:ext cx="914400" cy="3230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新逻辑</a:t>
            </a:r>
            <a:endParaRPr sz="20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838950" y="3086100"/>
            <a:ext cx="3333750" cy="6667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87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免疫系统成为治疗对象</a:t>
            </a:r>
            <a:endParaRPr sz="187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6877050" y="3857625"/>
            <a:ext cx="3429000" cy="781050"/>
          </a:xfrm>
          <a:prstGeom prst="rect">
            <a:avLst/>
          </a:prstGeom>
          <a:noFill/>
        </p:spPr>
        <p:txBody>
          <a:bodyPr wrap="square" lIns="36576" tIns="9144" rIns="36576" bIns="9144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sz="111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检查点：阻断免疫负调节</a:t>
            </a:r>
            <a:endParaRPr sz="111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sz="111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CAR-T：工程化患者 T 细胞</a:t>
            </a:r>
            <a:endParaRPr sz="111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  <a:buNone/>
            </a:pPr>
            <a:r>
              <a:rPr sz="111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TIL：扩增肿瘤内 T 细胞</a:t>
            </a:r>
            <a:endParaRPr sz="111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为什么癌症治疗需要新逻辑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4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2022 年约 2000 万新发和 970 万死亡，说明癌症负担会长期压迫医疗体系。</a:t>
            </a:r>
            <a:endParaRPr sz="114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786384" y="2304288"/>
            <a:ext cx="3154680" cy="1572768"/>
          </a:xfrm>
          <a:prstGeom prst="roundRect">
            <a:avLst/>
          </a:prstGeom>
          <a:solidFill>
            <a:srgbClr val="1C908B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014983" y="2532888"/>
            <a:ext cx="269748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22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2000 万</a:t>
            </a:r>
            <a:endParaRPr sz="225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1078992" y="3182112"/>
            <a:ext cx="2560320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220" b="0">
                <a:solidFill>
                  <a:srgbClr val="E6F4F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2022 年全球新发癌症病例</a:t>
            </a:r>
            <a:endParaRPr sz="1220" b="0">
              <a:solidFill>
                <a:srgbClr val="E6F4F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4498848" y="2304288"/>
            <a:ext cx="3154680" cy="1572768"/>
          </a:xfrm>
          <a:prstGeom prst="roundRect">
            <a:avLst/>
          </a:prstGeom>
          <a:solidFill>
            <a:srgbClr val="C04A43"/>
          </a:solidFill>
          <a:ln w="12700">
            <a:solidFill>
              <a:srgbClr val="C0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4727448" y="2532888"/>
            <a:ext cx="269748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22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970 万</a:t>
            </a:r>
            <a:endParaRPr sz="225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4791456" y="3182112"/>
            <a:ext cx="2560320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220" b="0">
                <a:solidFill>
                  <a:srgbClr val="E6F4F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2022 年全球癌症死亡</a:t>
            </a:r>
            <a:endParaRPr sz="1220" b="0">
              <a:solidFill>
                <a:srgbClr val="E6F4F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8211312" y="2304288"/>
            <a:ext cx="3154680" cy="1572768"/>
          </a:xfrm>
          <a:prstGeom prst="roundRect">
            <a:avLst/>
          </a:prstGeom>
          <a:solidFill>
            <a:srgbClr val="E59E3A"/>
          </a:solidFill>
          <a:ln w="12700">
            <a:solidFill>
              <a:srgbClr val="E59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8439912" y="2532888"/>
            <a:ext cx="2697480" cy="5029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22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3500 万</a:t>
            </a:r>
            <a:endParaRPr sz="225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503920" y="3182112"/>
            <a:ext cx="2560320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220" b="0">
                <a:solidFill>
                  <a:srgbClr val="E6F4F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2050 年新发病例预计</a:t>
            </a:r>
            <a:endParaRPr sz="1220" b="0">
              <a:solidFill>
                <a:srgbClr val="E6F4F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1115568" y="4709160"/>
            <a:ext cx="9966960" cy="713232"/>
          </a:xfrm>
          <a:prstGeom prst="roundRect">
            <a:avLst/>
          </a:prstGeom>
          <a:solidFill>
            <a:srgbClr val="12293A"/>
          </a:solidFill>
          <a:ln w="12700">
            <a:solidFill>
              <a:srgbClr val="12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source-footer"/>
          <p:cNvSpPr>
            <a:spLocks noGrp="1"/>
          </p:cNvSpPr>
          <p:nvPr/>
        </p:nvSpPr>
        <p:spPr>
          <a:xfrm>
            <a:off x="5619750" y="6419850"/>
            <a:ext cx="607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r">
              <a:buNone/>
              <a:def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来源：American Cancer Society Global Cancer Statistics 2024。</a:t>
            </a:r>
            <a:endParaRPr sz="585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rebuilt-dark-conclusion"/>
          <p:cNvSpPr>
            <a:spLocks noGrp="1"/>
          </p:cNvSpPr>
          <p:nvPr/>
        </p:nvSpPr>
        <p:spPr>
          <a:xfrm>
            <a:off x="1390650" y="4895850"/>
            <a:ext cx="941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14300" tIns="38100" rIns="114300" bIns="38100"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9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癌症不是少数患者的偶发问题，而是长期影响医疗体系、财政支付和家庭生活的公共卫生问题。</a:t>
            </a:r>
            <a:endParaRPr sz="99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历史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从外部杀伤到免疫重塑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6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关键变化不是治疗工具更多，而是治疗对象从病灶扩展到免疫系统。</a:t>
            </a:r>
            <a:endParaRPr sz="116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822960" y="3136392"/>
            <a:ext cx="10607040" cy="45720"/>
          </a:xfrm>
          <a:prstGeom prst="rect">
            <a:avLst/>
          </a:prstGeom>
          <a:solidFill>
            <a:srgbClr val="CFDBE1"/>
          </a:solidFill>
          <a:ln w="12700">
            <a:solidFill>
              <a:srgbClr val="CF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1143000" y="2898648"/>
            <a:ext cx="493776" cy="493776"/>
          </a:xfrm>
          <a:prstGeom prst="roundRect">
            <a:avLst/>
          </a:prstGeom>
          <a:solidFill>
            <a:srgbClr val="586874"/>
          </a:solidFill>
          <a:ln w="12700">
            <a:solidFill>
              <a:srgbClr val="58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713232" y="2221992"/>
            <a:ext cx="1353312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1950s 前</a:t>
            </a:r>
            <a:endParaRPr sz="101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03504" y="3611880"/>
            <a:ext cx="155448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手术/放疗</a:t>
            </a:r>
            <a:endParaRPr sz="109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576072" y="4078224"/>
            <a:ext cx="1609344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810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多数癌症治疗限于手术或放疗</a:t>
            </a:r>
            <a:endParaRPr sz="810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2999231" y="2898648"/>
            <a:ext cx="493776" cy="493776"/>
          </a:xfrm>
          <a:prstGeom prst="roundRect">
            <a:avLst/>
          </a:prstGeom>
          <a:solidFill>
            <a:srgbClr val="E59E3A"/>
          </a:solidFill>
          <a:ln w="12700">
            <a:solidFill>
              <a:srgbClr val="E59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2569463" y="2221992"/>
            <a:ext cx="1353312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990" b="1">
                <a:solidFill>
                  <a:srgbClr val="E59E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1950s–1970s</a:t>
            </a:r>
            <a:endParaRPr sz="990" b="1">
              <a:solidFill>
                <a:srgbClr val="E59E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2459735" y="3611880"/>
            <a:ext cx="155448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甲氨蝶呤</a:t>
            </a:r>
            <a:endParaRPr sz="109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2432303" y="4078224"/>
            <a:ext cx="1609344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810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推动实体瘤化疗发展</a:t>
            </a:r>
            <a:endParaRPr sz="810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855464" y="2898648"/>
            <a:ext cx="493776" cy="493776"/>
          </a:xfrm>
          <a:prstGeom prst="roundRect">
            <a:avLst/>
          </a:prstGeom>
          <a:solidFill>
            <a:srgbClr val="46915B"/>
          </a:solidFill>
          <a:ln w="12700">
            <a:solidFill>
              <a:srgbClr val="46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4425696" y="2221992"/>
            <a:ext cx="1353312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15" b="1">
                <a:solidFill>
                  <a:srgbClr val="45935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1997</a:t>
            </a:r>
            <a:endParaRPr sz="1015" b="1">
              <a:solidFill>
                <a:srgbClr val="45935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4315968" y="3611880"/>
            <a:ext cx="155448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rituximab</a:t>
            </a:r>
            <a:endParaRPr sz="109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4288536" y="4078224"/>
            <a:ext cx="1609344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810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单克隆抗体进入癌症治疗</a:t>
            </a:r>
            <a:endParaRPr sz="810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6711696" y="2898648"/>
            <a:ext cx="493776" cy="493776"/>
          </a:xfrm>
          <a:prstGeom prst="roundRect">
            <a:avLst/>
          </a:prstGeom>
          <a:solidFill>
            <a:srgbClr val="1C908B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6281928" y="2221992"/>
            <a:ext cx="1353312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15" b="1">
                <a:solidFill>
                  <a:srgbClr val="1C908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2011</a:t>
            </a:r>
            <a:endParaRPr sz="1015" b="1">
              <a:solidFill>
                <a:srgbClr val="1C908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6172200" y="3611880"/>
            <a:ext cx="155448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ipilimumab</a:t>
            </a:r>
            <a:endParaRPr sz="109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6144768" y="4078224"/>
            <a:ext cx="1609344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810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检查点抑制剂解除免疫刹车</a:t>
            </a:r>
            <a:endParaRPr sz="810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8567928" y="2898648"/>
            <a:ext cx="493776" cy="493776"/>
          </a:xfrm>
          <a:prstGeom prst="roundRect">
            <a:avLst/>
          </a:prstGeom>
          <a:solidFill>
            <a:srgbClr val="1C3848"/>
          </a:solidFill>
          <a:ln w="12700">
            <a:solidFill>
              <a:srgbClr val="1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8138159" y="2221992"/>
            <a:ext cx="1353312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2017</a:t>
            </a:r>
            <a:endParaRPr sz="101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8028431" y="3611880"/>
            <a:ext cx="155448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CAR-T</a:t>
            </a:r>
            <a:endParaRPr sz="109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8000999" y="4078224"/>
            <a:ext cx="1609344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810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患者 T 细胞成为治疗材料</a:t>
            </a:r>
            <a:endParaRPr sz="810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Rounded Rectangle 30"/>
          <p:cNvSpPr>
            <a:spLocks noGrp="1"/>
          </p:cNvSpPr>
          <p:nvPr/>
        </p:nvSpPr>
        <p:spPr>
          <a:xfrm>
            <a:off x="10424159" y="2898648"/>
            <a:ext cx="493776" cy="493776"/>
          </a:xfrm>
          <a:prstGeom prst="roundRect">
            <a:avLst/>
          </a:prstGeom>
          <a:solidFill>
            <a:srgbClr val="C04A43"/>
          </a:solidFill>
          <a:ln w="12700">
            <a:solidFill>
              <a:srgbClr val="C0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9994391" y="2221992"/>
            <a:ext cx="1353312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15" b="1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2024</a:t>
            </a:r>
            <a:endParaRPr sz="1015" b="1">
              <a:solidFill>
                <a:srgbClr val="C74B4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9884663" y="3611880"/>
            <a:ext cx="155448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TIL/TCR</a:t>
            </a:r>
            <a:endParaRPr sz="109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9857231" y="4078224"/>
            <a:ext cx="1609344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810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放大已有抗肿瘤反应</a:t>
            </a:r>
            <a:endParaRPr sz="810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965960" y="5349240"/>
            <a:ext cx="8138160" cy="32004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14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变化主线：从“打击肿瘤”走向“调动、改造和放大免疫反应”。</a:t>
            </a:r>
            <a:endParaRPr sz="114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source-footer"/>
          <p:cNvSpPr>
            <a:spLocks noGrp="1"/>
          </p:cNvSpPr>
          <p:nvPr/>
        </p:nvSpPr>
        <p:spPr>
          <a:xfrm>
            <a:off x="5619750" y="6419850"/>
            <a:ext cx="607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r">
              <a:buNone/>
              <a:def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来源：NCI 癌症研究里程碑；NCI 甲氨蝶呤与化疗史。</a:t>
            </a:r>
            <a:endParaRPr sz="585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框架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三条路线：解除刹车、改造细胞、放大反应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6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三条路线分别对应阻断免疫抑制、工程化识别能力、扩增已有反应。</a:t>
            </a:r>
            <a:endParaRPr sz="116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868680" y="2331720"/>
            <a:ext cx="2971800" cy="23774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1188719" y="2697480"/>
            <a:ext cx="2331720" cy="530352"/>
          </a:xfrm>
          <a:prstGeom prst="roundRect">
            <a:avLst/>
          </a:prstGeom>
          <a:solidFill>
            <a:srgbClr val="1C908B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1371600" y="2834640"/>
            <a:ext cx="1965960" cy="2697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16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解除免疫抑制</a:t>
            </a:r>
            <a:endParaRPr sz="116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1371600" y="3493008"/>
            <a:ext cx="1965960" cy="3535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免疫检查点</a:t>
            </a:r>
            <a:endParaRPr sz="150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280160" y="4057650"/>
            <a:ext cx="2148840" cy="4267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96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阻断 CTLA-4 / PD-1 / PD-L1 负调节</a:t>
            </a:r>
            <a:endParaRPr sz="96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4572000" y="2331720"/>
            <a:ext cx="2971800" cy="23774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4892040" y="2697480"/>
            <a:ext cx="2331720" cy="530352"/>
          </a:xfrm>
          <a:prstGeom prst="roundRect">
            <a:avLst/>
          </a:prstGeom>
          <a:solidFill>
            <a:srgbClr val="1C3848"/>
          </a:solidFill>
          <a:ln w="12700">
            <a:solidFill>
              <a:srgbClr val="1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5074920" y="2834640"/>
            <a:ext cx="1965960" cy="2697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16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工程化识别</a:t>
            </a:r>
            <a:endParaRPr sz="116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074920" y="3493008"/>
            <a:ext cx="1965960" cy="3535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CAR-T</a:t>
            </a:r>
            <a:endParaRPr sz="150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4983480" y="4057650"/>
            <a:ext cx="2148840" cy="4267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96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加入 CAR 结构，识别肿瘤抗原</a:t>
            </a:r>
            <a:endParaRPr sz="96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8275319" y="2331720"/>
            <a:ext cx="2971800" cy="237744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8595359" y="2697480"/>
            <a:ext cx="2331720" cy="530352"/>
          </a:xfrm>
          <a:prstGeom prst="roundRect">
            <a:avLst/>
          </a:prstGeom>
          <a:solidFill>
            <a:srgbClr val="C04A43"/>
          </a:solidFill>
          <a:ln w="12700">
            <a:solidFill>
              <a:srgbClr val="C0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8778240" y="2834640"/>
            <a:ext cx="1965960" cy="2697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16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扩增已有反应</a:t>
            </a:r>
            <a:endParaRPr sz="116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8778240" y="3493008"/>
            <a:ext cx="1965960" cy="3535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TIL</a:t>
            </a:r>
            <a:endParaRPr sz="150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8686800" y="4057650"/>
            <a:ext cx="2148840" cy="4267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96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分离肿瘤组织中的 T 细胞并扩增回输</a:t>
            </a:r>
            <a:endParaRPr sz="96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source-footer-front7"/>
          <p:cNvSpPr>
            <a:spLocks noGrp="1"/>
          </p:cNvSpPr>
          <p:nvPr/>
        </p:nvSpPr>
        <p:spPr>
          <a:xfrm>
            <a:off x="5334000" y="6419850"/>
            <a:ext cx="636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r">
              <a:buNone/>
              <a:def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来源：NCI 免疫治疗说明；NCI CAR-T 介绍；NCI TIL 治疗文章。</a:t>
            </a:r>
            <a:endParaRPr sz="585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技术一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检查点抑制剂：释放 T 细胞攻击能力</a:t>
            </a:r>
            <a:endParaRPr sz="240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99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癌细胞可借 PD-1/PD-L1、CTLA-4 等负调节通路压低 T 细胞反应；药物阻断这些通路，恢复抗肿瘤免疫。</a:t>
            </a:r>
            <a:endParaRPr sz="99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731520" y="2011680"/>
            <a:ext cx="5486400" cy="379476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600825" y="1981200"/>
            <a:ext cx="4019550" cy="110490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762750" y="2105025"/>
            <a:ext cx="3695700" cy="20955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015" b="1">
                <a:solidFill>
                  <a:srgbClr val="1C908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机制：阻断负调节</a:t>
            </a:r>
            <a:endParaRPr sz="1015" b="1">
              <a:solidFill>
                <a:srgbClr val="1C908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6762750" y="2390775"/>
            <a:ext cx="3695700" cy="5715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80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靶点：CTLA-4、PD-1、PD-L1</a:t>
            </a:r>
            <a:endParaRPr sz="80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r>
              <a:rPr sz="80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作用：解除 T 细胞抑制</a:t>
            </a:r>
            <a:endParaRPr sz="80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r>
              <a:rPr sz="80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本质：不是直接杀癌，而是恢复免疫攻击</a:t>
            </a:r>
            <a:endParaRPr sz="80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600825" y="3219450"/>
            <a:ext cx="4019550" cy="106680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762750" y="3343275"/>
            <a:ext cx="3695700" cy="20955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015" b="1">
                <a:solidFill>
                  <a:srgbClr val="E59E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原则：负调节也能成为靶点</a:t>
            </a:r>
            <a:endParaRPr sz="1015" b="1">
              <a:solidFill>
                <a:srgbClr val="E59E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762750" y="3629025"/>
            <a:ext cx="3695700" cy="5334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80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2018 诺奖：Allison 与 Honjo</a:t>
            </a:r>
            <a:endParaRPr sz="80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r>
              <a:rPr sz="80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抑制免疫负调节成为癌症治疗原则</a:t>
            </a:r>
            <a:endParaRPr sz="80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r>
              <a:rPr sz="80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TMB-H = 肿瘤突变负荷高，按分子特征选患者</a:t>
            </a:r>
            <a:endParaRPr sz="80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600825" y="4419600"/>
            <a:ext cx="4019550" cy="112395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6762750" y="4543425"/>
            <a:ext cx="3695700" cy="20955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015" b="1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证据与边界</a:t>
            </a:r>
            <a:endParaRPr sz="1015" b="1">
              <a:solidFill>
                <a:srgbClr val="C74B4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6762750" y="4829175"/>
            <a:ext cx="3695700" cy="59055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78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KEYNOTE-158：102 名 TMB-H 患者</a:t>
            </a:r>
            <a:endParaRPr sz="78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r>
              <a:rPr sz="78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ORR 29%；完全缓解 4%，部分缓解 25%</a:t>
            </a:r>
            <a:endParaRPr sz="78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</a:pPr>
            <a:r>
              <a:rPr sz="78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57% 的反应持续至少 12 个月；这不是“治愈率”</a:t>
            </a:r>
            <a:endParaRPr sz="78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source-footer"/>
          <p:cNvSpPr>
            <a:spLocks noGrp="1"/>
          </p:cNvSpPr>
          <p:nvPr/>
        </p:nvSpPr>
        <p:spPr>
          <a:xfrm>
            <a:off x="5619750" y="6419850"/>
            <a:ext cx="607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r">
              <a:buNone/>
              <a:def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来源：NCI 免疫治疗说明；Nobel Prize 2018 新闻稿；FDA Pembrolizumab TMB-H 批准说明。</a:t>
            </a:r>
            <a:endParaRPr sz="585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mechanism-title"/>
          <p:cNvSpPr>
            <a:spLocks noGrp="1"/>
          </p:cNvSpPr>
          <p:nvPr/>
        </p:nvSpPr>
        <p:spPr>
          <a:xfrm>
            <a:off x="1104900" y="225742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6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6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癌细胞利用检查点信号，让 T 细胞“停手”</a:t>
            </a:r>
            <a:endParaRPr sz="96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mechanism-immune-panel"/>
          <p:cNvSpPr>
            <a:spLocks noGrp="1"/>
          </p:cNvSpPr>
          <p:nvPr/>
        </p:nvSpPr>
        <p:spPr>
          <a:xfrm>
            <a:off x="1066800" y="2714625"/>
            <a:ext cx="1809750" cy="1562100"/>
          </a:xfrm>
          <a:prstGeom prst="roundRect">
            <a:avLst>
              <a:gd name="adj" fmla="val 6098"/>
            </a:avLst>
          </a:prstGeom>
          <a:solidFill>
            <a:srgbClr val="DDF2EF"/>
          </a:solidFill>
          <a:ln w="14288">
            <a:solidFill>
              <a:srgbClr val="1C908B"/>
            </a:solidFill>
            <a:prstDash val="solid"/>
          </a:ln>
        </p:spPr>
      </p:sp>
      <p:sp>
        <p:nvSpPr>
          <p:cNvPr id="25" name="mechanism-immune-caption"/>
          <p:cNvSpPr>
            <a:spLocks noGrp="1"/>
          </p:cNvSpPr>
          <p:nvPr/>
        </p:nvSpPr>
        <p:spPr>
          <a:xfrm>
            <a:off x="1238250" y="2857500"/>
            <a:ext cx="1466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C908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1">
                <a:solidFill>
                  <a:srgbClr val="1C908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免疫侧</a:t>
            </a:r>
            <a:endParaRPr sz="825" b="1">
              <a:solidFill>
                <a:srgbClr val="1C908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mechanism-t-cell"/>
          <p:cNvSpPr>
            <a:spLocks noGrp="1"/>
          </p:cNvSpPr>
          <p:nvPr/>
        </p:nvSpPr>
        <p:spPr>
          <a:xfrm>
            <a:off x="1524000" y="3171825"/>
            <a:ext cx="895350" cy="895350"/>
          </a:xfrm>
          <a:prstGeom prst="ellipse">
            <a:avLst/>
          </a:prstGeom>
          <a:solidFill>
            <a:srgbClr val="1C908B"/>
          </a:solidFill>
          <a:ln w="9525">
            <a:solidFill>
              <a:srgbClr val="1C908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 细胞</a:t>
            </a:r>
            <a:endParaRPr sz="12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mechanism-arrow-left"/>
          <p:cNvSpPr>
            <a:spLocks noGrp="1"/>
          </p:cNvSpPr>
          <p:nvPr/>
        </p:nvSpPr>
        <p:spPr>
          <a:xfrm>
            <a:off x="2619375" y="3505200"/>
            <a:ext cx="419100" cy="247650"/>
          </a:xfrm>
          <a:prstGeom prst="rightArrow">
            <a:avLst/>
          </a:prstGeom>
          <a:solidFill>
            <a:srgbClr val="12293A"/>
          </a:solidFill>
          <a:ln w="0">
            <a:solidFill>
              <a:srgbClr val="12293A"/>
            </a:solidFill>
            <a:prstDash val="solid"/>
          </a:ln>
        </p:spPr>
      </p:sp>
      <p:sp>
        <p:nvSpPr>
          <p:cNvPr id="28" name="mechanism-checkpoint-box"/>
          <p:cNvSpPr>
            <a:spLocks noGrp="1"/>
          </p:cNvSpPr>
          <p:nvPr/>
        </p:nvSpPr>
        <p:spPr>
          <a:xfrm>
            <a:off x="3067050" y="3286125"/>
            <a:ext cx="8382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C74B4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anchor="ctr"/>
          <a:lstStyle/>
          <a:p>
            <a:pPr algn="ctr">
              <a:defRPr sz="97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PD-1</a:t>
            </a:r>
            <a:endParaRPr sz="97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97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/</a:t>
            </a:r>
            <a:endParaRPr sz="97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97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PD-L1</a:t>
            </a:r>
            <a:endParaRPr sz="97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mechanism-checkpoint-caption"/>
          <p:cNvSpPr>
            <a:spLocks noGrp="1"/>
          </p:cNvSpPr>
          <p:nvPr/>
        </p:nvSpPr>
        <p:spPr>
          <a:xfrm>
            <a:off x="2971800" y="4010025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5" b="1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15" b="1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检查点信号</a:t>
            </a:r>
            <a:endParaRPr sz="715" b="1">
              <a:solidFill>
                <a:srgbClr val="C74B4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mechanism-arrow-right"/>
          <p:cNvSpPr>
            <a:spLocks noGrp="1"/>
          </p:cNvSpPr>
          <p:nvPr/>
        </p:nvSpPr>
        <p:spPr>
          <a:xfrm>
            <a:off x="3943350" y="3505200"/>
            <a:ext cx="419100" cy="247650"/>
          </a:xfrm>
          <a:prstGeom prst="rightArrow">
            <a:avLst/>
          </a:prstGeom>
          <a:solidFill>
            <a:srgbClr val="12293A"/>
          </a:solidFill>
          <a:ln w="0">
            <a:solidFill>
              <a:srgbClr val="12293A"/>
            </a:solidFill>
            <a:prstDash val="solid"/>
          </a:ln>
        </p:spPr>
      </p:sp>
      <p:sp>
        <p:nvSpPr>
          <p:cNvPr id="31" name="mechanism-cancer-panel"/>
          <p:cNvSpPr>
            <a:spLocks noGrp="1"/>
          </p:cNvSpPr>
          <p:nvPr/>
        </p:nvSpPr>
        <p:spPr>
          <a:xfrm>
            <a:off x="4419600" y="2714625"/>
            <a:ext cx="1371600" cy="1562100"/>
          </a:xfrm>
          <a:prstGeom prst="roundRect">
            <a:avLst>
              <a:gd name="adj" fmla="val 6944"/>
            </a:avLst>
          </a:prstGeom>
          <a:solidFill>
            <a:srgbClr val="F7E4E2"/>
          </a:solidFill>
          <a:ln w="14288">
            <a:solidFill>
              <a:srgbClr val="C74B46"/>
            </a:solidFill>
            <a:prstDash val="solid"/>
          </a:ln>
        </p:spPr>
      </p:sp>
      <p:sp>
        <p:nvSpPr>
          <p:cNvPr id="32" name="mechanism-cancer-caption"/>
          <p:cNvSpPr>
            <a:spLocks noGrp="1"/>
          </p:cNvSpPr>
          <p:nvPr/>
        </p:nvSpPr>
        <p:spPr>
          <a:xfrm>
            <a:off x="4591050" y="2857500"/>
            <a:ext cx="102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1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肿瘤侧</a:t>
            </a:r>
            <a:endParaRPr sz="825" b="1">
              <a:solidFill>
                <a:srgbClr val="C74B4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mechanism-cancer-cell"/>
          <p:cNvSpPr>
            <a:spLocks noGrp="1"/>
          </p:cNvSpPr>
          <p:nvPr/>
        </p:nvSpPr>
        <p:spPr>
          <a:xfrm>
            <a:off x="4629150" y="3181350"/>
            <a:ext cx="952500" cy="819150"/>
          </a:xfrm>
          <a:prstGeom prst="ellipse">
            <a:avLst/>
          </a:prstGeom>
          <a:solidFill>
            <a:srgbClr val="C74B46"/>
          </a:solidFill>
          <a:ln w="9525">
            <a:solidFill>
              <a:srgbClr val="C74B46"/>
            </a:solidFill>
            <a:prstDash val="solid"/>
          </a:ln>
        </p:spPr>
        <p:txBody>
          <a:bodyPr anchor="ctr"/>
          <a:lstStyle/>
          <a:p>
            <a:pPr algn="ctr">
              <a:defRPr sz="109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癌细胞</a:t>
            </a:r>
            <a:endParaRPr sz="109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mechanism-result-pill"/>
          <p:cNvSpPr>
            <a:spLocks noGrp="1"/>
          </p:cNvSpPr>
          <p:nvPr/>
        </p:nvSpPr>
        <p:spPr>
          <a:xfrm>
            <a:off x="1695450" y="4781550"/>
            <a:ext cx="3543300" cy="342900"/>
          </a:xfrm>
          <a:prstGeom prst="roundRect">
            <a:avLst>
              <a:gd name="adj" fmla="val 22222"/>
            </a:avLst>
          </a:prstGeom>
          <a:solidFill>
            <a:srgbClr val="12293A"/>
          </a:solidFill>
          <a:ln w="0">
            <a:solidFill>
              <a:srgbClr val="12293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 anchor="ctr"/>
          <a:lstStyle/>
          <a:p>
            <a:pPr algn="ctr">
              <a:defRPr sz="86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6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检查点抑制剂：阻断刹车，恢复 T 细胞攻击</a:t>
            </a:r>
            <a:endParaRPr sz="86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技术二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CAR-T：把患者 T 细胞改造成“活的药物”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40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CAR-T 把患者 T 细胞改造成治疗材料，治疗效果依赖采集、制造、回输和监测全流程。</a:t>
            </a:r>
            <a:endParaRPr sz="1140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07/15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713232" y="2011680"/>
            <a:ext cx="10789920" cy="3639312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960120" y="2743200"/>
            <a:ext cx="1444752" cy="1115568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Oval 11"/>
          <p:cNvSpPr>
            <a:spLocks noGrp="1"/>
          </p:cNvSpPr>
          <p:nvPr/>
        </p:nvSpPr>
        <p:spPr>
          <a:xfrm>
            <a:off x="1463040" y="2450592"/>
            <a:ext cx="438912" cy="438912"/>
          </a:xfrm>
          <a:prstGeom prst="ellipse">
            <a:avLst/>
          </a:prstGeom>
          <a:solidFill>
            <a:srgbClr val="1C908B"/>
          </a:solidFill>
          <a:ln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1463040" y="2523744"/>
            <a:ext cx="438912" cy="1981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18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endParaRPr sz="118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069848" y="2962656"/>
            <a:ext cx="122529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采集</a:t>
            </a:r>
            <a:endParaRPr sz="130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1069848" y="3273552"/>
            <a:ext cx="122529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50" b="0">
                <a:solidFill>
                  <a:srgbClr val="58687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分离 T 细胞</a:t>
            </a:r>
            <a:endParaRPr sz="1050" b="0">
              <a:solidFill>
                <a:srgbClr val="58687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Right Arrow 15"/>
          <p:cNvSpPr>
            <a:spLocks noGrp="1"/>
          </p:cNvSpPr>
          <p:nvPr/>
        </p:nvSpPr>
        <p:spPr>
          <a:xfrm>
            <a:off x="2441448" y="3154680"/>
            <a:ext cx="228600" cy="201168"/>
          </a:xfrm>
          <a:prstGeom prst="rightArrow">
            <a:avLst/>
          </a:prstGeom>
          <a:solidFill>
            <a:srgbClr val="586874"/>
          </a:solidFill>
          <a:ln>
            <a:solidFill>
              <a:srgbClr val="58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2715768" y="2743200"/>
            <a:ext cx="1444752" cy="1115568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Oval 17"/>
          <p:cNvSpPr>
            <a:spLocks noGrp="1"/>
          </p:cNvSpPr>
          <p:nvPr/>
        </p:nvSpPr>
        <p:spPr>
          <a:xfrm>
            <a:off x="3218688" y="2450592"/>
            <a:ext cx="438912" cy="438912"/>
          </a:xfrm>
          <a:prstGeom prst="ellipse">
            <a:avLst/>
          </a:prstGeom>
          <a:solidFill>
            <a:srgbClr val="1C908B"/>
          </a:solidFill>
          <a:ln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3218688" y="2523744"/>
            <a:ext cx="438912" cy="1981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18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endParaRPr sz="118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2825496" y="2962656"/>
            <a:ext cx="122529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工程化</a:t>
            </a:r>
            <a:endParaRPr sz="130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2825496" y="3273552"/>
            <a:ext cx="122529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50" b="0">
                <a:solidFill>
                  <a:srgbClr val="58687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加入 CAR 结构</a:t>
            </a:r>
            <a:endParaRPr sz="1050" b="0">
              <a:solidFill>
                <a:srgbClr val="58687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Right Arrow 21"/>
          <p:cNvSpPr>
            <a:spLocks noGrp="1"/>
          </p:cNvSpPr>
          <p:nvPr/>
        </p:nvSpPr>
        <p:spPr>
          <a:xfrm>
            <a:off x="4197096" y="3154680"/>
            <a:ext cx="228600" cy="201168"/>
          </a:xfrm>
          <a:prstGeom prst="rightArrow">
            <a:avLst/>
          </a:prstGeom>
          <a:solidFill>
            <a:srgbClr val="586874"/>
          </a:solidFill>
          <a:ln>
            <a:solidFill>
              <a:srgbClr val="58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4471416" y="2743200"/>
            <a:ext cx="1444752" cy="1115568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Oval 23"/>
          <p:cNvSpPr>
            <a:spLocks noGrp="1"/>
          </p:cNvSpPr>
          <p:nvPr/>
        </p:nvSpPr>
        <p:spPr>
          <a:xfrm>
            <a:off x="4974336" y="2450592"/>
            <a:ext cx="438912" cy="438912"/>
          </a:xfrm>
          <a:prstGeom prst="ellipse">
            <a:avLst/>
          </a:prstGeom>
          <a:solidFill>
            <a:srgbClr val="1C908B"/>
          </a:solidFill>
          <a:ln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4974336" y="2523744"/>
            <a:ext cx="438912" cy="1981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18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endParaRPr sz="118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4581144" y="2962656"/>
            <a:ext cx="122529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扩增</a:t>
            </a:r>
            <a:endParaRPr sz="130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4581144" y="3273552"/>
            <a:ext cx="122529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50" b="0">
                <a:solidFill>
                  <a:srgbClr val="58687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体外扩增</a:t>
            </a:r>
            <a:endParaRPr sz="1050" b="0">
              <a:solidFill>
                <a:srgbClr val="58687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Right Arrow 27"/>
          <p:cNvSpPr>
            <a:spLocks noGrp="1"/>
          </p:cNvSpPr>
          <p:nvPr/>
        </p:nvSpPr>
        <p:spPr>
          <a:xfrm>
            <a:off x="5952744" y="3154680"/>
            <a:ext cx="228600" cy="201168"/>
          </a:xfrm>
          <a:prstGeom prst="rightArrow">
            <a:avLst/>
          </a:prstGeom>
          <a:solidFill>
            <a:srgbClr val="586874"/>
          </a:solidFill>
          <a:ln>
            <a:solidFill>
              <a:srgbClr val="58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6227064" y="2743200"/>
            <a:ext cx="1444752" cy="1115568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Oval 29"/>
          <p:cNvSpPr>
            <a:spLocks noGrp="1"/>
          </p:cNvSpPr>
          <p:nvPr/>
        </p:nvSpPr>
        <p:spPr>
          <a:xfrm>
            <a:off x="6729984" y="2450592"/>
            <a:ext cx="438912" cy="438912"/>
          </a:xfrm>
          <a:prstGeom prst="ellipse">
            <a:avLst/>
          </a:prstGeom>
          <a:solidFill>
            <a:srgbClr val="1C908B"/>
          </a:solidFill>
          <a:ln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6729984" y="2523744"/>
            <a:ext cx="438912" cy="1981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18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endParaRPr sz="118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6336792" y="2962656"/>
            <a:ext cx="122529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预处理</a:t>
            </a:r>
            <a:endParaRPr sz="130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6336792" y="3273552"/>
            <a:ext cx="122529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50" b="0">
                <a:solidFill>
                  <a:srgbClr val="58687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淋巴清除</a:t>
            </a:r>
            <a:endParaRPr sz="1050" b="0">
              <a:solidFill>
                <a:srgbClr val="58687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Right Arrow 33"/>
          <p:cNvSpPr>
            <a:spLocks noGrp="1"/>
          </p:cNvSpPr>
          <p:nvPr/>
        </p:nvSpPr>
        <p:spPr>
          <a:xfrm>
            <a:off x="7708392" y="3154680"/>
            <a:ext cx="228600" cy="201168"/>
          </a:xfrm>
          <a:prstGeom prst="rightArrow">
            <a:avLst/>
          </a:prstGeom>
          <a:solidFill>
            <a:srgbClr val="586874"/>
          </a:solidFill>
          <a:ln>
            <a:solidFill>
              <a:srgbClr val="58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Rounded Rectangle 34"/>
          <p:cNvSpPr>
            <a:spLocks noGrp="1"/>
          </p:cNvSpPr>
          <p:nvPr/>
        </p:nvSpPr>
        <p:spPr>
          <a:xfrm>
            <a:off x="7982712" y="2743200"/>
            <a:ext cx="1444752" cy="1115568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6" name="Oval 35"/>
          <p:cNvSpPr>
            <a:spLocks noGrp="1"/>
          </p:cNvSpPr>
          <p:nvPr/>
        </p:nvSpPr>
        <p:spPr>
          <a:xfrm>
            <a:off x="8485632" y="2450592"/>
            <a:ext cx="438912" cy="438912"/>
          </a:xfrm>
          <a:prstGeom prst="ellipse">
            <a:avLst/>
          </a:prstGeom>
          <a:solidFill>
            <a:srgbClr val="1C908B"/>
          </a:solidFill>
          <a:ln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8485632" y="2523744"/>
            <a:ext cx="438912" cy="1981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18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</a:t>
            </a:r>
            <a:endParaRPr sz="118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8092440" y="2962656"/>
            <a:ext cx="122529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回输</a:t>
            </a:r>
            <a:endParaRPr sz="130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8092440" y="3273552"/>
            <a:ext cx="122529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50" b="0">
                <a:solidFill>
                  <a:srgbClr val="58687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回输体内</a:t>
            </a:r>
            <a:endParaRPr sz="1050" b="0">
              <a:solidFill>
                <a:srgbClr val="58687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Right Arrow 39"/>
          <p:cNvSpPr>
            <a:spLocks noGrp="1"/>
          </p:cNvSpPr>
          <p:nvPr/>
        </p:nvSpPr>
        <p:spPr>
          <a:xfrm>
            <a:off x="9464040" y="3154680"/>
            <a:ext cx="228600" cy="201168"/>
          </a:xfrm>
          <a:prstGeom prst="rightArrow">
            <a:avLst/>
          </a:prstGeom>
          <a:solidFill>
            <a:srgbClr val="586874"/>
          </a:solidFill>
          <a:ln>
            <a:solidFill>
              <a:srgbClr val="58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9738360" y="2743200"/>
            <a:ext cx="1444752" cy="1115568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2" name="Oval 41"/>
          <p:cNvSpPr>
            <a:spLocks noGrp="1"/>
          </p:cNvSpPr>
          <p:nvPr/>
        </p:nvSpPr>
        <p:spPr>
          <a:xfrm>
            <a:off x="10241280" y="2450592"/>
            <a:ext cx="438912" cy="438912"/>
          </a:xfrm>
          <a:prstGeom prst="ellipse">
            <a:avLst/>
          </a:prstGeom>
          <a:solidFill>
            <a:srgbClr val="1C908B"/>
          </a:solidFill>
          <a:ln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10241280" y="2523744"/>
            <a:ext cx="438912" cy="1981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18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endParaRPr sz="118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9848088" y="2962656"/>
            <a:ext cx="122529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监测</a:t>
            </a:r>
            <a:endParaRPr sz="130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9848088" y="3273552"/>
            <a:ext cx="122529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050" b="0">
                <a:solidFill>
                  <a:srgbClr val="58687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CRS / ICANS</a:t>
            </a:r>
            <a:endParaRPr sz="1050" b="0">
              <a:solidFill>
                <a:srgbClr val="586874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Rounded Rectangle 45"/>
          <p:cNvSpPr>
            <a:spLocks noGrp="1"/>
          </p:cNvSpPr>
          <p:nvPr/>
        </p:nvSpPr>
        <p:spPr>
          <a:xfrm>
            <a:off x="2788920" y="4480560"/>
            <a:ext cx="6537960" cy="749808"/>
          </a:xfrm>
          <a:prstGeom prst="roundRect">
            <a:avLst/>
          </a:prstGeom>
          <a:solidFill>
            <a:srgbClr val="12293A"/>
          </a:solidFill>
          <a:ln w="12700">
            <a:solidFill>
              <a:srgbClr val="12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rebuilt-dark-conclusion"/>
          <p:cNvSpPr>
            <a:spLocks noGrp="1"/>
          </p:cNvSpPr>
          <p:nvPr/>
        </p:nvSpPr>
        <p:spPr>
          <a:xfrm>
            <a:off x="2381250" y="4667250"/>
            <a:ext cx="7429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14300" tIns="38100" rIns="114300" bIns="3810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6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实例：Kymriah 是首个 FDA 批准 CAR-T；63 名儿童/青年患者 3 个月总体缓解率 83%。</a:t>
            </a:r>
            <a:endParaRPr sz="96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8" name="source-footer-front7"/>
          <p:cNvSpPr>
            <a:spLocks noGrp="1"/>
          </p:cNvSpPr>
          <p:nvPr/>
        </p:nvSpPr>
        <p:spPr>
          <a:xfrm>
            <a:off x="5334000" y="6419850"/>
            <a:ext cx="636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r">
              <a:buNone/>
              <a:def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来源：NCI Kymriah 批准文章；NCI CAR-T 介绍。</a:t>
            </a:r>
            <a:endParaRPr sz="585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CAR-T 证据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CAR-T 证据与风险：有效，但要求高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CAR-T 是高反应、高管理要求的治疗。</a:t>
            </a:r>
            <a:endParaRPr sz="142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08/15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749808" y="2240280"/>
            <a:ext cx="3063240" cy="3063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1024127" y="2560320"/>
            <a:ext cx="2514600" cy="530352"/>
          </a:xfrm>
          <a:prstGeom prst="round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1207007" y="2706624"/>
            <a:ext cx="2148840" cy="277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疗效</a:t>
            </a:r>
            <a:endParaRPr sz="17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1060704" y="3401568"/>
            <a:ext cx="2542032" cy="1188720"/>
          </a:xfrm>
          <a:prstGeom prst="rect">
            <a:avLst/>
          </a:prstGeom>
          <a:noFill/>
        </p:spPr>
        <p:txBody>
          <a:bodyPr wrap="square" lIns="76200" tIns="57150" rIns="76200" bIns="5715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09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• Kymriah：B-ALL，3 个月总体缓解率 83%</a:t>
            </a:r>
            <a:endParaRPr sz="109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09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• Aucatzyl：B-ALL，3 个月内 CR 42%</a:t>
            </a:r>
            <a:endParaRPr sz="109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480560" y="2240280"/>
            <a:ext cx="3063240" cy="3063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4754880" y="2560320"/>
            <a:ext cx="2514600" cy="530352"/>
          </a:xfrm>
          <a:prstGeom prst="roundRect">
            <a:avLst/>
          </a:prstGeom>
          <a:solidFill>
            <a:srgbClr val="C74B46"/>
          </a:solidFill>
          <a:ln w="0">
            <a:solidFill>
              <a:srgbClr val="C74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4937760" y="2706624"/>
            <a:ext cx="2148840" cy="277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</a:t>
            </a:r>
            <a:endParaRPr sz="17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4791456" y="3401568"/>
            <a:ext cx="2542032" cy="1188720"/>
          </a:xfrm>
          <a:prstGeom prst="rect">
            <a:avLst/>
          </a:prstGeom>
          <a:noFill/>
        </p:spPr>
        <p:txBody>
          <a:bodyPr wrap="square" lIns="76200" tIns="57150" rIns="76200" bIns="5715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09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• CRS、ICANS 需要规范处理</a:t>
            </a:r>
            <a:endParaRPr sz="109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09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• Aucatzyl：CRS 75%，ICANS 24%</a:t>
            </a:r>
            <a:endParaRPr sz="109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8211312" y="2240280"/>
            <a:ext cx="3063240" cy="3063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8485632" y="2560320"/>
            <a:ext cx="2514600" cy="530352"/>
          </a:xfrm>
          <a:prstGeom prst="roundRect">
            <a:avLst/>
          </a:prstGeom>
          <a:solidFill>
            <a:srgbClr val="EAA33A"/>
          </a:solidFill>
          <a:ln w="0">
            <a:solidFill>
              <a:srgbClr val="EAA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8668512" y="2706624"/>
            <a:ext cx="2148840" cy="277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条件</a:t>
            </a:r>
            <a:endParaRPr sz="17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8522208" y="3401568"/>
            <a:ext cx="2542032" cy="1188720"/>
          </a:xfrm>
          <a:prstGeom prst="rect">
            <a:avLst/>
          </a:prstGeom>
          <a:noFill/>
        </p:spPr>
        <p:txBody>
          <a:bodyPr wrap="square" lIns="76200" tIns="57150" rIns="76200" bIns="5715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09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• 个体化制造与等待周期</a:t>
            </a:r>
            <a:endParaRPr sz="109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sz="1090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• 需要具备毒性处理能力的治疗中心</a:t>
            </a:r>
            <a:endParaRPr sz="1090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1783080" y="5669280"/>
            <a:ext cx="8595360" cy="277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判断方式：疗效数字不能脱离风险和治疗条件。</a:t>
            </a:r>
            <a:endParaRPr sz="170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source-footer"/>
          <p:cNvSpPr>
            <a:spLocks noGrp="1"/>
          </p:cNvSpPr>
          <p:nvPr/>
        </p:nvSpPr>
        <p:spPr>
          <a:xfrm>
            <a:off x="5619750" y="6419850"/>
            <a:ext cx="607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r">
              <a:buNone/>
              <a:def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来源：NCI Kymriah 批准文章；FDA Aucatzyl 批准说明。</a:t>
            </a:r>
            <a:endParaRPr sz="585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技术三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TIL：放大患者体内已经存在的抗肿瘤反应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TIL 把患者已有免疫反应筛出并放大，实体瘤意义明确但边界仍在。</a:t>
            </a:r>
            <a:endParaRPr sz="142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09/15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804672" y="2011680"/>
            <a:ext cx="4617720" cy="3913632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32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316" y="2212848"/>
            <a:ext cx="3456432" cy="3456432"/>
          </a:xfrm>
          <a:prstGeom prst="rect">
            <a:avLst/>
          </a:prstGeom>
        </p:spPr>
      </p:pic>
      <p:sp>
        <p:nvSpPr>
          <p:cNvPr id="12" name="Rounded Rectangle 11"/>
          <p:cNvSpPr>
            <a:spLocks noGrp="1"/>
          </p:cNvSpPr>
          <p:nvPr/>
        </p:nvSpPr>
        <p:spPr>
          <a:xfrm>
            <a:off x="5897880" y="2240280"/>
            <a:ext cx="4480560" cy="74980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062472" y="2368296"/>
            <a:ext cx="415137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32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机制</a:t>
            </a:r>
            <a:endParaRPr sz="132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6062472" y="2697480"/>
            <a:ext cx="4151376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从肿瘤组织分离 T 细胞，体外扩增后回输。</a:t>
            </a:r>
            <a:endParaRPr sz="120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5897880" y="3246120"/>
            <a:ext cx="4480560" cy="74980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6062472" y="3374136"/>
            <a:ext cx="415137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320" b="1">
                <a:solidFill>
                  <a:srgbClr val="C04A4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实例</a:t>
            </a:r>
            <a:endParaRPr sz="1320" b="1">
              <a:solidFill>
                <a:srgbClr val="C04A4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062472" y="3703320"/>
            <a:ext cx="4151376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Amtagvi 推荐剂量患者 ORR 31.5%。</a:t>
            </a:r>
            <a:endParaRPr sz="120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897880" y="4251960"/>
            <a:ext cx="4480560" cy="749808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6062472" y="4379976"/>
            <a:ext cx="415137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320" b="1">
                <a:solidFill>
                  <a:srgbClr val="E59E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边界</a:t>
            </a:r>
            <a:endParaRPr sz="1320" b="1">
              <a:solidFill>
                <a:srgbClr val="E59E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6062472" y="4709160"/>
            <a:ext cx="4151376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加速批准仍需确认性试验验证临床获益。</a:t>
            </a:r>
            <a:endParaRPr sz="120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source-footer"/>
          <p:cNvSpPr>
            <a:spLocks noGrp="1"/>
          </p:cNvSpPr>
          <p:nvPr/>
        </p:nvSpPr>
        <p:spPr>
          <a:xfrm>
            <a:off x="5619750" y="6419850"/>
            <a:ext cx="607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r">
              <a:buNone/>
              <a:def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来源：FDA Amtagvi/Lifileucel 批准说明；NCI TIL 治疗文章。</a:t>
            </a:r>
            <a:endParaRPr sz="585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证据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证据不能直接横比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不同病种、终点、患者条件不同，不能用一个数字排名疗法。</a:t>
            </a:r>
            <a:endParaRPr sz="142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0" name="Rounded Rectangle 69"/>
          <p:cNvSpPr>
            <a:spLocks noGrp="1"/>
          </p:cNvSpPr>
          <p:nvPr/>
        </p:nvSpPr>
        <p:spPr>
          <a:xfrm>
            <a:off x="1409700" y="5257800"/>
            <a:ext cx="9372600" cy="590550"/>
          </a:xfrm>
          <a:prstGeom prst="roundRect">
            <a:avLst/>
          </a:prstGeom>
          <a:solidFill>
            <a:srgbClr val="12293A"/>
          </a:solidFill>
          <a:ln w="0">
            <a:solidFill>
              <a:srgbClr val="12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1" name="TextBox 70"/>
          <p:cNvSpPr>
            <a:spLocks noGrp="1"/>
          </p:cNvSpPr>
          <p:nvPr/>
        </p:nvSpPr>
        <p:spPr>
          <a:xfrm>
            <a:off x="1714500" y="5438331"/>
            <a:ext cx="8763000" cy="2508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52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这些数据证明“有真实证据”，不证明“百分比最高的疗法最好”。</a:t>
            </a:r>
            <a:endParaRPr sz="152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2" name="matrix-header-1"/>
          <p:cNvSpPr>
            <a:spLocks noGrp="1"/>
          </p:cNvSpPr>
          <p:nvPr/>
        </p:nvSpPr>
        <p:spPr>
          <a:xfrm>
            <a:off x="590550" y="2076450"/>
            <a:ext cx="1428750" cy="381000"/>
          </a:xfrm>
          <a:prstGeom prst="rect">
            <a:avLst/>
          </a:prstGeom>
          <a:solidFill>
            <a:srgbClr val="12293A"/>
          </a:solidFill>
          <a:ln w="0">
            <a:solidFill>
              <a:srgbClr val="12293A"/>
            </a:solidFill>
          </a:ln>
        </p:spPr>
      </p:sp>
      <p:sp>
        <p:nvSpPr>
          <p:cNvPr id="73" name="matrix-header-label-1"/>
          <p:cNvSpPr>
            <a:spLocks noGrp="1"/>
          </p:cNvSpPr>
          <p:nvPr/>
        </p:nvSpPr>
        <p:spPr>
          <a:xfrm>
            <a:off x="666750" y="215265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buNone/>
              <a:defRPr sz="94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4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技术 / 代表</a:t>
            </a:r>
            <a:endParaRPr sz="94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4" name="matrix-header-2"/>
          <p:cNvSpPr>
            <a:spLocks noGrp="1"/>
          </p:cNvSpPr>
          <p:nvPr/>
        </p:nvSpPr>
        <p:spPr>
          <a:xfrm>
            <a:off x="2019300" y="2076450"/>
            <a:ext cx="3143250" cy="381000"/>
          </a:xfrm>
          <a:prstGeom prst="rect">
            <a:avLst/>
          </a:prstGeom>
          <a:solidFill>
            <a:srgbClr val="12293A"/>
          </a:solidFill>
          <a:ln w="0">
            <a:solidFill>
              <a:srgbClr val="12293A"/>
            </a:solidFill>
          </a:ln>
        </p:spPr>
      </p:sp>
      <p:sp>
        <p:nvSpPr>
          <p:cNvPr id="75" name="matrix-header-label-2"/>
          <p:cNvSpPr>
            <a:spLocks noGrp="1"/>
          </p:cNvSpPr>
          <p:nvPr/>
        </p:nvSpPr>
        <p:spPr>
          <a:xfrm>
            <a:off x="2095500" y="2152650"/>
            <a:ext cx="2990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4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4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场景与指标</a:t>
            </a:r>
            <a:endParaRPr sz="94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6" name="matrix-header-3"/>
          <p:cNvSpPr>
            <a:spLocks noGrp="1"/>
          </p:cNvSpPr>
          <p:nvPr/>
        </p:nvSpPr>
        <p:spPr>
          <a:xfrm>
            <a:off x="5162550" y="2076450"/>
            <a:ext cx="2857500" cy="381000"/>
          </a:xfrm>
          <a:prstGeom prst="rect">
            <a:avLst/>
          </a:prstGeom>
          <a:solidFill>
            <a:srgbClr val="12293A"/>
          </a:solidFill>
          <a:ln w="0">
            <a:solidFill>
              <a:srgbClr val="12293A"/>
            </a:solidFill>
          </a:ln>
        </p:spPr>
      </p:sp>
      <p:sp>
        <p:nvSpPr>
          <p:cNvPr id="77" name="matrix-header-label-3"/>
          <p:cNvSpPr>
            <a:spLocks noGrp="1"/>
          </p:cNvSpPr>
          <p:nvPr/>
        </p:nvSpPr>
        <p:spPr>
          <a:xfrm>
            <a:off x="5238750" y="2152650"/>
            <a:ext cx="2705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4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4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主要风险</a:t>
            </a:r>
            <a:endParaRPr sz="94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8" name="matrix-header-4"/>
          <p:cNvSpPr>
            <a:spLocks noGrp="1"/>
          </p:cNvSpPr>
          <p:nvPr/>
        </p:nvSpPr>
        <p:spPr>
          <a:xfrm>
            <a:off x="8020050" y="2076450"/>
            <a:ext cx="3581400" cy="381000"/>
          </a:xfrm>
          <a:prstGeom prst="rect">
            <a:avLst/>
          </a:prstGeom>
          <a:solidFill>
            <a:srgbClr val="12293A"/>
          </a:solidFill>
          <a:ln w="0">
            <a:solidFill>
              <a:srgbClr val="12293A"/>
            </a:solidFill>
          </a:ln>
        </p:spPr>
      </p:sp>
      <p:sp>
        <p:nvSpPr>
          <p:cNvPr id="79" name="matrix-header-label-4"/>
          <p:cNvSpPr>
            <a:spLocks noGrp="1"/>
          </p:cNvSpPr>
          <p:nvPr/>
        </p:nvSpPr>
        <p:spPr>
          <a:xfrm>
            <a:off x="8096250" y="21526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4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4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不能直接横比的原因</a:t>
            </a:r>
            <a:endParaRPr sz="94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0" name="matrix-row-bg-1"/>
          <p:cNvSpPr>
            <a:spLocks noGrp="1"/>
          </p:cNvSpPr>
          <p:nvPr/>
        </p:nvSpPr>
        <p:spPr>
          <a:xfrm>
            <a:off x="590550" y="2495550"/>
            <a:ext cx="11010900" cy="647700"/>
          </a:xfrm>
          <a:prstGeom prst="rect">
            <a:avLst/>
          </a:prstGeom>
          <a:solidFill>
            <a:srgbClr val="FFFFFF"/>
          </a:solidFill>
          <a:ln w="6668">
            <a:solidFill>
              <a:srgbClr val="D8E7EA"/>
            </a:solidFill>
          </a:ln>
        </p:spPr>
      </p:sp>
      <p:sp>
        <p:nvSpPr>
          <p:cNvPr id="81" name="matrix-cell-1-1"/>
          <p:cNvSpPr>
            <a:spLocks noGrp="1"/>
          </p:cNvSpPr>
          <p:nvPr/>
        </p:nvSpPr>
        <p:spPr>
          <a:xfrm>
            <a:off x="685800" y="2647950"/>
            <a:ext cx="123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buNone/>
              <a:def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检查点</a:t>
            </a:r>
            <a:endParaRPr sz="91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  <a:def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Pembrolizumab</a:t>
            </a:r>
            <a:endParaRPr sz="91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2" name="matrix-cell-1-2"/>
          <p:cNvSpPr>
            <a:spLocks noGrp="1"/>
          </p:cNvSpPr>
          <p:nvPr/>
        </p:nvSpPr>
        <p:spPr>
          <a:xfrm>
            <a:off x="2114550" y="2647950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TMB-H 实体瘤</a:t>
            </a:r>
            <a:endParaRPr sz="88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buNone/>
              <a:def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ORR 29%</a:t>
            </a:r>
            <a:endParaRPr sz="88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3" name="matrix-vrule-1-1"/>
          <p:cNvSpPr>
            <a:spLocks noGrp="1"/>
          </p:cNvSpPr>
          <p:nvPr/>
        </p:nvSpPr>
        <p:spPr>
          <a:xfrm>
            <a:off x="2019300" y="25717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84" name="matrix-cell-1-3"/>
          <p:cNvSpPr>
            <a:spLocks noGrp="1"/>
          </p:cNvSpPr>
          <p:nvPr/>
        </p:nvSpPr>
        <p:spPr>
          <a:xfrm>
            <a:off x="5257800" y="264795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免疫相关不良反应</a:t>
            </a:r>
            <a:endParaRPr sz="88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5" name="matrix-vrule-1-2"/>
          <p:cNvSpPr>
            <a:spLocks noGrp="1"/>
          </p:cNvSpPr>
          <p:nvPr/>
        </p:nvSpPr>
        <p:spPr>
          <a:xfrm>
            <a:off x="5162550" y="25717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86" name="matrix-cell-1-4"/>
          <p:cNvSpPr>
            <a:spLocks noGrp="1"/>
          </p:cNvSpPr>
          <p:nvPr/>
        </p:nvSpPr>
        <p:spPr>
          <a:xfrm>
            <a:off x="8115300" y="2647950"/>
            <a:ext cx="3390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分子特征入组，终点与患者条件不同</a:t>
            </a:r>
            <a:endParaRPr sz="88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7" name="matrix-vrule-1-3"/>
          <p:cNvSpPr>
            <a:spLocks noGrp="1"/>
          </p:cNvSpPr>
          <p:nvPr/>
        </p:nvSpPr>
        <p:spPr>
          <a:xfrm>
            <a:off x="8020050" y="25717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88" name="matrix-row-bg-2"/>
          <p:cNvSpPr>
            <a:spLocks noGrp="1"/>
          </p:cNvSpPr>
          <p:nvPr/>
        </p:nvSpPr>
        <p:spPr>
          <a:xfrm>
            <a:off x="590550" y="3181350"/>
            <a:ext cx="11010900" cy="647700"/>
          </a:xfrm>
          <a:prstGeom prst="rect">
            <a:avLst/>
          </a:prstGeom>
          <a:solidFill>
            <a:srgbClr val="EFF7F7"/>
          </a:solidFill>
          <a:ln w="6668">
            <a:solidFill>
              <a:srgbClr val="D8E7EA"/>
            </a:solidFill>
          </a:ln>
        </p:spPr>
      </p:sp>
      <p:sp>
        <p:nvSpPr>
          <p:cNvPr id="89" name="matrix-cell-2-1"/>
          <p:cNvSpPr>
            <a:spLocks noGrp="1"/>
          </p:cNvSpPr>
          <p:nvPr/>
        </p:nvSpPr>
        <p:spPr>
          <a:xfrm>
            <a:off x="685800" y="3333750"/>
            <a:ext cx="123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buNone/>
              <a:def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CAR-T</a:t>
            </a:r>
            <a:endParaRPr sz="91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  <a:def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Kymriah</a:t>
            </a:r>
            <a:endParaRPr sz="91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0" name="matrix-cell-2-2"/>
          <p:cNvSpPr>
            <a:spLocks noGrp="1"/>
          </p:cNvSpPr>
          <p:nvPr/>
        </p:nvSpPr>
        <p:spPr>
          <a:xfrm>
            <a:off x="2114550" y="3333750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儿童/青年 B-ALL</a:t>
            </a:r>
            <a:endParaRPr sz="88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buNone/>
              <a:def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 个月总体缓解率 83%</a:t>
            </a:r>
            <a:endParaRPr sz="88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1" name="matrix-vrule-2-1"/>
          <p:cNvSpPr>
            <a:spLocks noGrp="1"/>
          </p:cNvSpPr>
          <p:nvPr/>
        </p:nvSpPr>
        <p:spPr>
          <a:xfrm>
            <a:off x="2019300" y="32575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92" name="matrix-cell-2-3"/>
          <p:cNvSpPr>
            <a:spLocks noGrp="1"/>
          </p:cNvSpPr>
          <p:nvPr/>
        </p:nvSpPr>
        <p:spPr>
          <a:xfrm>
            <a:off x="5257800" y="333375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CRS / ICANS</a:t>
            </a:r>
            <a:endParaRPr sz="88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3" name="matrix-vrule-2-2"/>
          <p:cNvSpPr>
            <a:spLocks noGrp="1"/>
          </p:cNvSpPr>
          <p:nvPr/>
        </p:nvSpPr>
        <p:spPr>
          <a:xfrm>
            <a:off x="5162550" y="32575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94" name="matrix-cell-2-4"/>
          <p:cNvSpPr>
            <a:spLocks noGrp="1"/>
          </p:cNvSpPr>
          <p:nvPr/>
        </p:nvSpPr>
        <p:spPr>
          <a:xfrm>
            <a:off x="8115300" y="3333750"/>
            <a:ext cx="3390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血液肿瘤场景，不等同于实体瘤</a:t>
            </a:r>
            <a:endParaRPr sz="88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5" name="matrix-vrule-2-3"/>
          <p:cNvSpPr>
            <a:spLocks noGrp="1"/>
          </p:cNvSpPr>
          <p:nvPr/>
        </p:nvSpPr>
        <p:spPr>
          <a:xfrm>
            <a:off x="8020050" y="32575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96" name="matrix-row-bg-3"/>
          <p:cNvSpPr>
            <a:spLocks noGrp="1"/>
          </p:cNvSpPr>
          <p:nvPr/>
        </p:nvSpPr>
        <p:spPr>
          <a:xfrm>
            <a:off x="590550" y="3867150"/>
            <a:ext cx="11010900" cy="647700"/>
          </a:xfrm>
          <a:prstGeom prst="rect">
            <a:avLst/>
          </a:prstGeom>
          <a:solidFill>
            <a:srgbClr val="FFFFFF"/>
          </a:solidFill>
          <a:ln w="6668">
            <a:solidFill>
              <a:srgbClr val="D8E7EA"/>
            </a:solidFill>
          </a:ln>
        </p:spPr>
      </p:sp>
      <p:sp>
        <p:nvSpPr>
          <p:cNvPr id="97" name="matrix-cell-3-1"/>
          <p:cNvSpPr>
            <a:spLocks noGrp="1"/>
          </p:cNvSpPr>
          <p:nvPr/>
        </p:nvSpPr>
        <p:spPr>
          <a:xfrm>
            <a:off x="685800" y="4019550"/>
            <a:ext cx="123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buNone/>
              <a:def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CAR-T</a:t>
            </a:r>
            <a:endParaRPr sz="91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  <a:def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Aucatzyl</a:t>
            </a:r>
            <a:endParaRPr sz="91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8" name="matrix-cell-3-2"/>
          <p:cNvSpPr>
            <a:spLocks noGrp="1"/>
          </p:cNvSpPr>
          <p:nvPr/>
        </p:nvSpPr>
        <p:spPr>
          <a:xfrm>
            <a:off x="2114550" y="4019550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成人 B-ALL</a:t>
            </a:r>
            <a:endParaRPr sz="88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buNone/>
              <a:def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 个月内 CR 42%</a:t>
            </a:r>
            <a:endParaRPr sz="88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9" name="matrix-vrule-3-1"/>
          <p:cNvSpPr>
            <a:spLocks noGrp="1"/>
          </p:cNvSpPr>
          <p:nvPr/>
        </p:nvSpPr>
        <p:spPr>
          <a:xfrm>
            <a:off x="2019300" y="39433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100" name="matrix-cell-3-3"/>
          <p:cNvSpPr>
            <a:spLocks noGrp="1"/>
          </p:cNvSpPr>
          <p:nvPr/>
        </p:nvSpPr>
        <p:spPr>
          <a:xfrm>
            <a:off x="5257800" y="401955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0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0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CRS 75%</a:t>
            </a:r>
            <a:endParaRPr sz="885" b="0">
              <a:solidFill>
                <a:srgbClr val="C74B4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buNone/>
              <a:defRPr sz="885" b="0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0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ICANS 24%</a:t>
            </a:r>
            <a:endParaRPr sz="885" b="0">
              <a:solidFill>
                <a:srgbClr val="C74B4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1" name="matrix-vrule-3-2"/>
          <p:cNvSpPr>
            <a:spLocks noGrp="1"/>
          </p:cNvSpPr>
          <p:nvPr/>
        </p:nvSpPr>
        <p:spPr>
          <a:xfrm>
            <a:off x="5162550" y="39433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102" name="matrix-cell-3-4"/>
          <p:cNvSpPr>
            <a:spLocks noGrp="1"/>
          </p:cNvSpPr>
          <p:nvPr/>
        </p:nvSpPr>
        <p:spPr>
          <a:xfrm>
            <a:off x="8115300" y="4019550"/>
            <a:ext cx="3390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终点为 CR，风险定义不同</a:t>
            </a:r>
            <a:endParaRPr sz="88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3" name="matrix-vrule-3-3"/>
          <p:cNvSpPr>
            <a:spLocks noGrp="1"/>
          </p:cNvSpPr>
          <p:nvPr/>
        </p:nvSpPr>
        <p:spPr>
          <a:xfrm>
            <a:off x="8020050" y="39433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104" name="matrix-row-bg-4"/>
          <p:cNvSpPr>
            <a:spLocks noGrp="1"/>
          </p:cNvSpPr>
          <p:nvPr/>
        </p:nvSpPr>
        <p:spPr>
          <a:xfrm>
            <a:off x="590550" y="4552950"/>
            <a:ext cx="11010900" cy="647700"/>
          </a:xfrm>
          <a:prstGeom prst="rect">
            <a:avLst/>
          </a:prstGeom>
          <a:solidFill>
            <a:srgbClr val="EFF7F7"/>
          </a:solidFill>
          <a:ln w="6668">
            <a:solidFill>
              <a:srgbClr val="D8E7EA"/>
            </a:solidFill>
          </a:ln>
        </p:spPr>
      </p:sp>
      <p:sp>
        <p:nvSpPr>
          <p:cNvPr id="105" name="matrix-cell-4-1"/>
          <p:cNvSpPr>
            <a:spLocks noGrp="1"/>
          </p:cNvSpPr>
          <p:nvPr/>
        </p:nvSpPr>
        <p:spPr>
          <a:xfrm>
            <a:off x="685800" y="4705350"/>
            <a:ext cx="1238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buNone/>
              <a:def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TIL</a:t>
            </a:r>
            <a:endParaRPr sz="91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buNone/>
              <a:def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1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Amtagvi</a:t>
            </a:r>
            <a:endParaRPr sz="91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6" name="matrix-cell-4-2"/>
          <p:cNvSpPr>
            <a:spLocks noGrp="1"/>
          </p:cNvSpPr>
          <p:nvPr/>
        </p:nvSpPr>
        <p:spPr>
          <a:xfrm>
            <a:off x="2114550" y="4705350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晚期黑色素瘤</a:t>
            </a:r>
            <a:endParaRPr sz="88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buNone/>
              <a:def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1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ORR 31.5%</a:t>
            </a:r>
            <a:endParaRPr sz="885" b="1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7" name="matrix-vrule-4-1"/>
          <p:cNvSpPr>
            <a:spLocks noGrp="1"/>
          </p:cNvSpPr>
          <p:nvPr/>
        </p:nvSpPr>
        <p:spPr>
          <a:xfrm>
            <a:off x="2019300" y="46291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108" name="matrix-cell-4-3"/>
          <p:cNvSpPr>
            <a:spLocks noGrp="1"/>
          </p:cNvSpPr>
          <p:nvPr/>
        </p:nvSpPr>
        <p:spPr>
          <a:xfrm>
            <a:off x="5257800" y="470535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治疗相关毒性</a:t>
            </a:r>
            <a:endParaRPr sz="88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9" name="matrix-vrule-4-2"/>
          <p:cNvSpPr>
            <a:spLocks noGrp="1"/>
          </p:cNvSpPr>
          <p:nvPr/>
        </p:nvSpPr>
        <p:spPr>
          <a:xfrm>
            <a:off x="5162550" y="46291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110" name="matrix-cell-4-4"/>
          <p:cNvSpPr>
            <a:spLocks noGrp="1"/>
          </p:cNvSpPr>
          <p:nvPr/>
        </p:nvSpPr>
        <p:spPr>
          <a:xfrm>
            <a:off x="8115300" y="4705350"/>
            <a:ext cx="3390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85" b="0">
                <a:solidFill>
                  <a:srgbClr val="12293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加速批准人群，仍需确认性试验</a:t>
            </a:r>
            <a:endParaRPr sz="885" b="0">
              <a:solidFill>
                <a:srgbClr val="12293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1" name="matrix-vrule-4-3"/>
          <p:cNvSpPr>
            <a:spLocks noGrp="1"/>
          </p:cNvSpPr>
          <p:nvPr/>
        </p:nvSpPr>
        <p:spPr>
          <a:xfrm>
            <a:off x="8020050" y="4629150"/>
            <a:ext cx="9525" cy="495300"/>
          </a:xfrm>
          <a:prstGeom prst="rect">
            <a:avLst/>
          </a:prstGeom>
          <a:solidFill>
            <a:srgbClr val="D8E7EA"/>
          </a:solidFill>
          <a:ln w="0">
            <a:solidFill>
              <a:srgbClr val="D8E7EA"/>
            </a:solidFill>
          </a:ln>
        </p:spPr>
      </p:sp>
      <p:sp>
        <p:nvSpPr>
          <p:cNvPr id="112" name="source-footer"/>
          <p:cNvSpPr>
            <a:spLocks noGrp="1"/>
          </p:cNvSpPr>
          <p:nvPr/>
        </p:nvSpPr>
        <p:spPr>
          <a:xfrm>
            <a:off x="5619750" y="6419850"/>
            <a:ext cx="607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r">
              <a:buNone/>
              <a:def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来源：FDA Pembrolizumab、Aucatzyl、Amtagvi 批准说明；NCI Kymriah 批准文章。</a:t>
            </a:r>
            <a:endParaRPr sz="585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路径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从开药到医疗工程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细胞治疗依赖完整医疗系统，而不是单一药品。</a:t>
            </a:r>
            <a:endParaRPr sz="142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11/15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594360" y="2834640"/>
            <a:ext cx="1234440" cy="786384"/>
          </a:xfrm>
          <a:prstGeom prst="roundRect">
            <a:avLst/>
          </a:prstGeom>
          <a:solidFill>
            <a:srgbClr val="1C908B"/>
          </a:solidFill>
          <a:ln w="9525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667512" y="3035808"/>
            <a:ext cx="1078992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buNone/>
            </a:pPr>
            <a:r>
              <a:rPr sz="112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患者筛选</a:t>
            </a:r>
            <a:endParaRPr sz="112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1914525" y="3048000"/>
            <a:ext cx="209550" cy="2857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endParaRPr sz="180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2203704" y="2834640"/>
            <a:ext cx="1234440" cy="786384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2276856" y="3035808"/>
            <a:ext cx="1078992" cy="364236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buNone/>
            </a:pPr>
            <a:r>
              <a:rPr sz="112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细胞采集/
组织获取</a:t>
            </a:r>
            <a:endParaRPr sz="112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3524250" y="3048000"/>
            <a:ext cx="209550" cy="2857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endParaRPr sz="180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3813048" y="2834640"/>
            <a:ext cx="1234440" cy="786384"/>
          </a:xfrm>
          <a:prstGeom prst="roundRect">
            <a:avLst/>
          </a:prstGeom>
          <a:solidFill>
            <a:srgbClr val="12293A"/>
          </a:solidFill>
          <a:ln w="9525">
            <a:solidFill>
              <a:srgbClr val="12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3886200" y="3035808"/>
            <a:ext cx="1078992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buNone/>
            </a:pPr>
            <a:r>
              <a:rPr sz="112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实验室制造</a:t>
            </a:r>
            <a:endParaRPr sz="112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5133975" y="3048000"/>
            <a:ext cx="209550" cy="2857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endParaRPr sz="180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5422392" y="2834640"/>
            <a:ext cx="1234440" cy="786384"/>
          </a:xfrm>
          <a:prstGeom prst="roundRect">
            <a:avLst/>
          </a:prstGeom>
          <a:solidFill>
            <a:srgbClr val="12293A"/>
          </a:solidFill>
          <a:ln w="9525">
            <a:solidFill>
              <a:srgbClr val="12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5495544" y="3035808"/>
            <a:ext cx="1078992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buNone/>
            </a:pPr>
            <a:r>
              <a:rPr sz="112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质控运输</a:t>
            </a:r>
            <a:endParaRPr sz="112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6743700" y="3048000"/>
            <a:ext cx="209550" cy="2857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endParaRPr sz="180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7031736" y="2834640"/>
            <a:ext cx="1234440" cy="786384"/>
          </a:xfrm>
          <a:prstGeom prst="roundRect">
            <a:avLst/>
          </a:prstGeom>
          <a:solidFill>
            <a:srgbClr val="1C908B"/>
          </a:solidFill>
          <a:ln w="9525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7104888" y="3035808"/>
            <a:ext cx="1078992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buNone/>
            </a:pPr>
            <a:r>
              <a:rPr sz="112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回输</a:t>
            </a:r>
            <a:endParaRPr sz="112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8353425" y="3048000"/>
            <a:ext cx="209550" cy="2857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endParaRPr sz="180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8641080" y="2834640"/>
            <a:ext cx="1234440" cy="786384"/>
          </a:xfrm>
          <a:prstGeom prst="roundRect">
            <a:avLst/>
          </a:prstGeom>
          <a:solidFill>
            <a:srgbClr val="C74B46"/>
          </a:solidFill>
          <a:ln w="9525">
            <a:solidFill>
              <a:srgbClr val="C74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8714232" y="3035808"/>
            <a:ext cx="1078992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buNone/>
            </a:pPr>
            <a:r>
              <a:rPr sz="112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毒性管理</a:t>
            </a:r>
            <a:endParaRPr sz="112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9963150" y="3048000"/>
            <a:ext cx="209550" cy="2857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endParaRPr sz="180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10250424" y="2834640"/>
            <a:ext cx="1234440" cy="786384"/>
          </a:xfrm>
          <a:prstGeom prst="roundRect">
            <a:avLst/>
          </a:prstGeom>
          <a:solidFill>
            <a:srgbClr val="EAA33A"/>
          </a:solidFill>
          <a:ln w="9525">
            <a:solidFill>
              <a:srgbClr val="EAA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10323576" y="3035808"/>
            <a:ext cx="1078992" cy="256032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>
              <a:buNone/>
            </a:pPr>
            <a:r>
              <a:rPr sz="112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长期随访</a:t>
            </a:r>
            <a:endParaRPr sz="112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1078992" y="4626864"/>
            <a:ext cx="9966960" cy="694944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C6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1417320" y="4846320"/>
            <a:ext cx="9235440" cy="2529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54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历史变化：治疗不再只是“药物进入身体”，而是临床、制造、监管和随访共同完成。</a:t>
            </a:r>
            <a:endParaRPr sz="154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source-footer"/>
          <p:cNvSpPr>
            <a:spLocks noGrp="1"/>
          </p:cNvSpPr>
          <p:nvPr/>
        </p:nvSpPr>
        <p:spPr>
          <a:xfrm>
            <a:off x="5619750" y="6419850"/>
            <a:ext cx="607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r">
              <a:buNone/>
              <a:def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来源：NCI CAR-T 介绍；NCI TIL 治疗文章。</a:t>
            </a:r>
            <a:endParaRPr sz="585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疗效越强，越需要边界和监管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强疗效必须配套适应证、毒性管理和长期监测。</a:t>
            </a:r>
            <a:endParaRPr sz="142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12/15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868680" y="2377440"/>
            <a:ext cx="3017520" cy="2468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1197864" y="2697480"/>
            <a:ext cx="2359152" cy="502920"/>
          </a:xfrm>
          <a:prstGeom prst="roundRect">
            <a:avLst/>
          </a:prstGeom>
          <a:solidFill>
            <a:srgbClr val="E59E3A"/>
          </a:solidFill>
          <a:ln w="12700">
            <a:solidFill>
              <a:srgbClr val="E59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1371600" y="2834640"/>
            <a:ext cx="1993392" cy="259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58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实体瘤难题</a:t>
            </a:r>
            <a:endParaRPr sz="158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1216152" y="3474720"/>
            <a:ext cx="2286000" cy="8686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30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靶抗原
免疫抑制微环境
肿瘤异质性</a:t>
            </a:r>
            <a:endParaRPr sz="130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4572000" y="2377440"/>
            <a:ext cx="3017520" cy="2468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4901184" y="2697480"/>
            <a:ext cx="2359152" cy="502920"/>
          </a:xfrm>
          <a:prstGeom prst="roundRect">
            <a:avLst/>
          </a:prstGeom>
          <a:solidFill>
            <a:srgbClr val="C04A43"/>
          </a:solidFill>
          <a:ln w="12700">
            <a:solidFill>
              <a:srgbClr val="C0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5074920" y="2834640"/>
            <a:ext cx="1993392" cy="259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58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急性毒性</a:t>
            </a:r>
            <a:endParaRPr sz="158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4919472" y="3474720"/>
            <a:ext cx="2286000" cy="8686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30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CRS
ICANS
需快速处理</a:t>
            </a:r>
            <a:endParaRPr sz="130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8275319" y="2377440"/>
            <a:ext cx="3017520" cy="24688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8604503" y="2697480"/>
            <a:ext cx="2359152" cy="502920"/>
          </a:xfrm>
          <a:prstGeom prst="roundRect">
            <a:avLst/>
          </a:prstGeom>
          <a:solidFill>
            <a:srgbClr val="1C908B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8778240" y="2834640"/>
            <a:ext cx="1993392" cy="259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58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长期风险</a:t>
            </a:r>
            <a:endParaRPr sz="158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8622792" y="3474720"/>
            <a:ext cx="2286000" cy="8686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30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继发恶性肿瘤风险
长期监测
风险告知</a:t>
            </a:r>
            <a:endParaRPr sz="130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2176272" y="5349240"/>
            <a:ext cx="7818120" cy="2849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7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态度：不因风险否定技术，也不因疗效忽略风险。</a:t>
            </a:r>
            <a:endParaRPr sz="17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source-footer"/>
          <p:cNvSpPr>
            <a:spLocks noGrp="1"/>
          </p:cNvSpPr>
          <p:nvPr/>
        </p:nvSpPr>
        <p:spPr>
          <a:xfrm>
            <a:off x="5619750" y="6419850"/>
            <a:ext cx="607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r">
              <a:buNone/>
              <a:def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来源：NCI CAR-T 介绍；FDA CAR-T 黑框警告。</a:t>
            </a:r>
            <a:endParaRPr sz="585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伦理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技术突破不等于公共价值自动实现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谁能用、谁承担风险、谁获得收益，决定公共价值。</a:t>
            </a:r>
            <a:endParaRPr sz="142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13/15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960120" y="2176272"/>
            <a:ext cx="4526280" cy="10972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188720" y="2340864"/>
            <a:ext cx="1051560" cy="2545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550" b="1">
                <a:solidFill>
                  <a:srgbClr val="C04A4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高价</a:t>
            </a:r>
            <a:endParaRPr sz="1550" b="1">
              <a:solidFill>
                <a:srgbClr val="C04A4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172200" y="2176272"/>
            <a:ext cx="4526280" cy="10972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6400800" y="2340864"/>
            <a:ext cx="1051560" cy="2545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55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中心限制</a:t>
            </a:r>
            <a:endParaRPr sz="155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7498079" y="2340864"/>
            <a:ext cx="278892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22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需要规范治疗中心
采集、制造、回输能力</a:t>
            </a:r>
            <a:endParaRPr sz="122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960120" y="3712463"/>
            <a:ext cx="4526280" cy="10972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188720" y="3877055"/>
            <a:ext cx="1051560" cy="2545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550" b="1">
                <a:solidFill>
                  <a:srgbClr val="E59E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支付与转诊</a:t>
            </a:r>
            <a:endParaRPr sz="1550" b="1">
              <a:solidFill>
                <a:srgbClr val="E59E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2286000" y="3877055"/>
            <a:ext cx="2788920" cy="5760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22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保险支付
跨区域转诊
等待周期</a:t>
            </a:r>
            <a:endParaRPr sz="122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6172200" y="3712463"/>
            <a:ext cx="4526280" cy="1097280"/>
          </a:xfrm>
          <a:prstGeom prst="roundRect">
            <a:avLst/>
          </a:prstGeom>
          <a:solidFill>
            <a:srgbClr val="F4F8FA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6400800" y="3877055"/>
            <a:ext cx="1051560" cy="2545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550" b="1">
                <a:solidFill>
                  <a:srgbClr val="1C384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知情同意</a:t>
            </a:r>
            <a:endParaRPr sz="1550" b="1">
              <a:solidFill>
                <a:srgbClr val="1C384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7498079" y="3877055"/>
            <a:ext cx="2788920" cy="5760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22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
替代方案
随访数据公开</a:t>
            </a:r>
            <a:endParaRPr sz="122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2304288" y="5376672"/>
            <a:ext cx="7543800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公共价值 = 临床获益 × 风险透明 × 可及性。</a:t>
            </a:r>
            <a:endParaRPr sz="190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price-amount"/>
          <p:cNvSpPr>
            <a:spLocks noGrp="1"/>
          </p:cNvSpPr>
          <p:nvPr/>
        </p:nvSpPr>
        <p:spPr>
          <a:xfrm>
            <a:off x="2266950" y="2276475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buNone/>
              <a:defRPr sz="1800" b="1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solidFill>
                  <a:srgbClr val="C74B4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$515,000</a:t>
            </a:r>
            <a:endParaRPr sz="1800" b="1">
              <a:solidFill>
                <a:srgbClr val="C74B4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price-note"/>
          <p:cNvSpPr>
            <a:spLocks noGrp="1"/>
          </p:cNvSpPr>
          <p:nvPr/>
        </p:nvSpPr>
        <p:spPr>
          <a:xfrm>
            <a:off x="2286000" y="2676525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l">
              <a:buNone/>
              <a:defRPr sz="790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NCI 报道公司宣布的单次治疗价格</a:t>
            </a:r>
            <a:endParaRPr sz="790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source-footer"/>
          <p:cNvSpPr>
            <a:spLocks noGrp="1"/>
          </p:cNvSpPr>
          <p:nvPr/>
        </p:nvSpPr>
        <p:spPr>
          <a:xfrm>
            <a:off x="5619750" y="6419850"/>
            <a:ext cx="6076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ctr"/>
          <a:lstStyle/>
          <a:p>
            <a:pPr algn="r">
              <a:buNone/>
              <a:def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585" b="0">
                <a:solidFill>
                  <a:srgbClr val="586874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来源：NCI TIL 治疗文章；资料来源.md。</a:t>
            </a:r>
            <a:endParaRPr sz="585" b="0">
              <a:solidFill>
                <a:srgbClr val="586874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未来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下一步不是更神奇，而是更可控、更公平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未来重点是精准筛选、安全管理和可及性改善。</a:t>
            </a:r>
            <a:endParaRPr sz="142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14/15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868680" y="2395728"/>
            <a:ext cx="3017520" cy="2487168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371600" y="2743200"/>
            <a:ext cx="2011680" cy="3992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250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更准</a:t>
            </a:r>
            <a:endParaRPr sz="250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1371600" y="3493008"/>
            <a:ext cx="2011680" cy="5669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43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生物标志物筛选患者
减少无效治疗</a:t>
            </a:r>
            <a:endParaRPr sz="143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4572000" y="2395728"/>
            <a:ext cx="3017520" cy="2487168"/>
          </a:xfrm>
          <a:prstGeom prst="roundRect">
            <a:avLst/>
          </a:prstGeom>
          <a:solidFill>
            <a:srgbClr val="FFF0DA"/>
          </a:solidFill>
          <a:ln w="12700">
            <a:solidFill>
              <a:srgbClr val="E59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5074920" y="2743200"/>
            <a:ext cx="2011680" cy="3992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250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更安全</a:t>
            </a:r>
            <a:endParaRPr sz="250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5074920" y="3493008"/>
            <a:ext cx="2011680" cy="5669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43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降低 CRS / ICANS
强化长期登记</a:t>
            </a:r>
            <a:endParaRPr sz="143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8275319" y="2395728"/>
            <a:ext cx="3017520" cy="2487168"/>
          </a:xfrm>
          <a:prstGeom prst="roundRect">
            <a:avLst/>
          </a:prstGeom>
          <a:solidFill>
            <a:srgbClr val="F6E5E3"/>
          </a:solidFill>
          <a:ln w="12700">
            <a:solidFill>
              <a:srgbClr val="C0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8778240" y="2743200"/>
            <a:ext cx="2011680" cy="3992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250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更可及</a:t>
            </a:r>
            <a:endParaRPr sz="250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8778240" y="3493008"/>
            <a:ext cx="2011680" cy="5669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430" b="0">
                <a:solidFill>
                  <a:srgbClr val="141A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缩短制造周期
改善支付和转诊</a:t>
            </a:r>
            <a:endParaRPr sz="1430" b="0">
              <a:solidFill>
                <a:srgbClr val="141A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1691640" y="5413248"/>
            <a:ext cx="8915400" cy="2804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buNone/>
            </a:pPr>
            <a:r>
              <a:rPr sz="172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历史方向：从“能不能做”走向“能否规范、安全、公平地做”。</a:t>
            </a:r>
            <a:endParaRPr sz="172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B"/>
          </a:solidFill>
          <a:ln w="0">
            <a:solidFill>
              <a:srgbClr val="F7FB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908B"/>
          </a:solidFill>
          <a:ln w="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33400" y="333375"/>
            <a:ext cx="152400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结论</a:t>
            </a:r>
            <a:endParaRPr sz="110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33400" y="628650"/>
            <a:ext cx="10001250" cy="5524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255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支持发展，但不神化</a:t>
            </a:r>
            <a:endParaRPr sz="255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571500" y="1295400"/>
            <a:ext cx="10934700" cy="495300"/>
          </a:xfrm>
          <a:prstGeom prst="roundRect">
            <a:avLst/>
          </a:prstGeom>
          <a:solidFill>
            <a:srgbClr val="E6F4F2"/>
          </a:solidFill>
          <a:ln w="9525">
            <a:solidFill>
              <a:srgbClr val="B7D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800100" y="1419225"/>
            <a:ext cx="10287000" cy="24765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1420" b="1">
                <a:solidFill>
                  <a:srgbClr val="1229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历史意义、临床价值、审慎边界必须同时成立。</a:t>
            </a:r>
            <a:endParaRPr sz="1420" b="1">
              <a:solidFill>
                <a:srgbClr val="1229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57200" y="6419850"/>
            <a:ext cx="552450" cy="20002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buNone/>
            </a:pPr>
            <a:r>
              <a:rPr sz="820" b="1">
                <a:solidFill>
                  <a:srgbClr val="586874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15/15</a:t>
            </a:r>
            <a:endParaRPr sz="820" b="1">
              <a:solidFill>
                <a:srgbClr val="586874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960120" y="2194560"/>
            <a:ext cx="10012680" cy="749808"/>
          </a:xfrm>
          <a:prstGeom prst="roundRect">
            <a:avLst/>
          </a:prstGeom>
          <a:solidFill>
            <a:srgbClr val="E8F6F4"/>
          </a:solidFill>
          <a:ln w="12700">
            <a:solidFill>
              <a:srgbClr val="1C9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298448" y="2395728"/>
            <a:ext cx="1234440" cy="2407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460" b="1">
                <a:solidFill>
                  <a:srgbClr val="1C908B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历史意义</a:t>
            </a:r>
            <a:endParaRPr sz="1460" b="1">
              <a:solidFill>
                <a:srgbClr val="1C908B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2670048" y="2395728"/>
            <a:ext cx="7726679" cy="246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2293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细胞治疗与免疫治疗改变了医学对疾病的干预对象。</a:t>
            </a:r>
            <a:endParaRPr sz="1500" b="1">
              <a:solidFill>
                <a:srgbClr val="12293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960120" y="3246120"/>
            <a:ext cx="10012680" cy="749808"/>
          </a:xfrm>
          <a:prstGeom prst="roundRect">
            <a:avLst/>
          </a:prstGeom>
          <a:solidFill>
            <a:srgbClr val="FFF0DA"/>
          </a:solidFill>
          <a:ln w="12700">
            <a:solidFill>
              <a:srgbClr val="E59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298448" y="3447288"/>
            <a:ext cx="1234440" cy="2407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460" b="1">
                <a:solidFill>
                  <a:srgbClr val="E59E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临床价值</a:t>
            </a:r>
            <a:endParaRPr sz="1460" b="1">
              <a:solidFill>
                <a:srgbClr val="E59E3A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2670048" y="3447288"/>
            <a:ext cx="7726679" cy="246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2293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已在部分血液肿瘤、TMB-H 实体瘤和特定黑色素瘤中显示真实证据。</a:t>
            </a:r>
            <a:endParaRPr sz="1500" b="1">
              <a:solidFill>
                <a:srgbClr val="12293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960120" y="4297679"/>
            <a:ext cx="10012680" cy="749808"/>
          </a:xfrm>
          <a:prstGeom prst="roundRect">
            <a:avLst/>
          </a:prstGeom>
          <a:solidFill>
            <a:srgbClr val="F6E5E3"/>
          </a:solidFill>
          <a:ln w="12700">
            <a:solidFill>
              <a:srgbClr val="C0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298448" y="4498847"/>
            <a:ext cx="1234440" cy="2407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460" b="1">
                <a:solidFill>
                  <a:srgbClr val="C04A4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审慎边界</a:t>
            </a:r>
            <a:endParaRPr sz="1460" b="1">
              <a:solidFill>
                <a:srgbClr val="C04A4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2670048" y="4498847"/>
            <a:ext cx="7726679" cy="246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2293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适应证、毒性、长期风险、制造流程和费用可及性决定了它不能被神化。</a:t>
            </a:r>
            <a:endParaRPr sz="1500" b="1">
              <a:solidFill>
                <a:srgbClr val="12293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1920240" y="5577840"/>
            <a:ext cx="8321040" cy="493776"/>
          </a:xfrm>
          <a:prstGeom prst="roundRect">
            <a:avLst/>
          </a:prstGeom>
          <a:solidFill>
            <a:srgbClr val="12293A"/>
          </a:solidFill>
          <a:ln w="12700">
            <a:solidFill>
              <a:srgbClr val="122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rebuilt-dark-conclusion"/>
          <p:cNvSpPr>
            <a:spLocks noGrp="1"/>
          </p:cNvSpPr>
          <p:nvPr/>
        </p:nvSpPr>
        <p:spPr>
          <a:xfrm>
            <a:off x="2286000" y="5695950"/>
            <a:ext cx="7591425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14300" tIns="38100" rIns="114300" bIns="38100" anchor="ctr"/>
          <a:lstStyle/>
          <a:p>
            <a:pPr algn="ctr">
              <a:buNone/>
              <a:defRPr sz="109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9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支持发展，但不神化；用证据、风险和可及性一起判断。</a:t>
            </a:r>
            <a:endParaRPr sz="109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3138</Words>
  <Application>WPS 演示</Application>
  <PresentationFormat>Converted Presentation</PresentationFormat>
  <Paragraphs>480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黑体</vt:lpstr>
      <vt:lpstr>Microsoft YaHei UI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张思成</cp:lastModifiedBy>
  <cp:revision>2</cp:revision>
  <dcterms:created xsi:type="dcterms:W3CDTF">2026-06-15T05:04:00Z</dcterms:created>
  <dcterms:modified xsi:type="dcterms:W3CDTF">2026-06-15T05:07:30Z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491AEA9235624258B8606D55EE688825_12</vt:lpwstr>
  </property>
  <property fmtid="{D5CDD505-2E9C-101B-9397-08002B2CF9AE}" pid="3" name="KSOProductBuildVer">
    <vt:lpwstr>2052-12.1.0.23542</vt:lpwstr>
  </property>
</Properties>
</file>