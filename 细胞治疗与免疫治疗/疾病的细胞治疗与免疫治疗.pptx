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图0_封面细胞插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530352"/>
            <a:ext cx="6263640" cy="534924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859536"/>
            <a:ext cx="25603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00">
                <a:solidFill>
                  <a:srgbClr val="C4EBE7"/>
                </a:solidFill>
                <a:latin typeface="SimHei"/>
              </a:rPr>
              <a:t>医学发展史课程汇报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353312"/>
            <a:ext cx="5257800" cy="5943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3300">
                <a:solidFill>
                  <a:srgbClr val="FFFFFF"/>
                </a:solidFill>
                <a:latin typeface="SimHei"/>
              </a:rPr>
              <a:t>疾病的细胞治疗与免疫治疗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166360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700">
                <a:solidFill>
                  <a:srgbClr val="DCEBEE"/>
                </a:solidFill>
                <a:latin typeface="SimHei"/>
              </a:rPr>
              <a:t>从“杀死肿瘤”到“训练免疫”：医学治疗逻辑的转变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054096"/>
            <a:ext cx="5193792" cy="1005840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246120"/>
            <a:ext cx="11430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50">
                <a:solidFill>
                  <a:srgbClr val="C4EBE7"/>
                </a:solidFill>
                <a:latin typeface="SimHei"/>
              </a:rPr>
              <a:t>一句话观点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547872"/>
            <a:ext cx="4407408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  <a:latin typeface="SimHei"/>
              </a:rPr>
              <a:t>支持发展，但不神化；用证据、风险和可及性一起判断。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4206240" cy="84124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30">
                <a:solidFill>
                  <a:srgbClr val="E2F2F4"/>
                </a:solidFill>
                <a:latin typeface="SimSun"/>
              </a:rPr>
              <a:t>演讲人数：2 人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30">
                <a:solidFill>
                  <a:srgbClr val="E2F2F4"/>
                </a:solidFill>
                <a:latin typeface="SimSun"/>
              </a:rPr>
              <a:t>建议时长：10–15 分钟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30">
                <a:solidFill>
                  <a:srgbClr val="E2F2F4"/>
                </a:solidFill>
                <a:latin typeface="SimSun"/>
              </a:rPr>
              <a:t>组员：姓名1 / 姓名2 / 姓名3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01/15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封面插画为本材料生成的示意图；数据与案例来源见参考资料页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开场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选题与主线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避开已选主题后，本组聚焦“疾病的细胞治疗与免疫治疗”。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423160"/>
            <a:ext cx="489204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87752"/>
            <a:ext cx="45720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选题约束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935224"/>
            <a:ext cx="4572000" cy="9143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图二已有：人口老龄化、食品安全、情绪与心理健康、人体实验、地中海贫血。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319272"/>
            <a:ext cx="489204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83864"/>
            <a:ext cx="45720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本组主题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831335"/>
            <a:ext cx="4572000" cy="9143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疾病的细胞治疗与免疫治疗。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15383"/>
            <a:ext cx="489204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4379975"/>
            <a:ext cx="45720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汇报标准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4572000" cy="9143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用数字、实例、图片和明确态度说明技术价值与边界。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1968" y="2148840"/>
            <a:ext cx="4251960" cy="256032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7728" y="2542032"/>
            <a:ext cx="10972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700">
                <a:solidFill>
                  <a:srgbClr val="C4EBE7"/>
                </a:solidFill>
                <a:latin typeface="SimHei"/>
              </a:rPr>
              <a:t>主论点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3072384"/>
            <a:ext cx="3429000" cy="9601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SimHei"/>
              </a:rPr>
              <a:t>观点：支持发展，但不神化。评价标准是证据、风险、可及性。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02/15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题目来源：课堂建议题目与已选题记录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为什么这个主题值得讲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癌症负担上升，使医学需要超越单纯外部杀伤的治疗逻辑。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95728"/>
            <a:ext cx="2697480" cy="1417320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14884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2000万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273552"/>
            <a:ext cx="22860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150">
                <a:solidFill>
                  <a:srgbClr val="E1F0F2"/>
                </a:solidFill>
                <a:latin typeface="SimSun"/>
              </a:rPr>
              <a:t>2022 年全球新发癌症病例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395728"/>
            <a:ext cx="2697480" cy="1417320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2624328"/>
            <a:ext cx="214884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970万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3273552"/>
            <a:ext cx="22860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150">
                <a:solidFill>
                  <a:srgbClr val="E1F0F2"/>
                </a:solidFill>
                <a:latin typeface="SimSun"/>
              </a:rPr>
              <a:t>2022 年全球癌症死亡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395728"/>
            <a:ext cx="2697480" cy="1417320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624328"/>
            <a:ext cx="214884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3500万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3273552"/>
            <a:ext cx="22860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150">
                <a:solidFill>
                  <a:srgbClr val="E1F0F2"/>
                </a:solidFill>
                <a:latin typeface="SimSun"/>
              </a:rPr>
              <a:t>2050 年新发病例预计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1517904"/>
            <a:ext cx="4645152" cy="42976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图1_全球癌症负担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2378093"/>
            <a:ext cx="4279392" cy="23944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03/15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资料：American Cancer Society Global Cancer Statistics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三条技术线：解除刹车、改造细胞、放大已有反应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免疫治疗和细胞治疗把治疗对象从“病灶”扩展到“免疫系统”。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2359152"/>
            <a:ext cx="2971800" cy="233172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633472"/>
            <a:ext cx="210312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100">
                <a:solidFill>
                  <a:srgbClr val="12293A"/>
                </a:solidFill>
                <a:latin typeface="SimHei"/>
              </a:rPr>
              <a:t>免疫检查点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310128"/>
            <a:ext cx="22860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00">
                <a:solidFill>
                  <a:srgbClr val="141A1F"/>
                </a:solidFill>
                <a:latin typeface="SimSun"/>
              </a:rPr>
              <a:t>解除 T 细胞刹车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913632"/>
            <a:ext cx="233172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596976"/>
                </a:solidFill>
                <a:latin typeface="SimSun"/>
              </a:rPr>
              <a:t>代表：pembrolizumab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2359152"/>
            <a:ext cx="2971800" cy="2331720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2633472"/>
            <a:ext cx="210312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100">
                <a:solidFill>
                  <a:srgbClr val="12293A"/>
                </a:solidFill>
                <a:latin typeface="SimHei"/>
              </a:rPr>
              <a:t>CAR-T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3310128"/>
            <a:ext cx="22860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00">
                <a:solidFill>
                  <a:srgbClr val="141A1F"/>
                </a:solidFill>
                <a:latin typeface="SimSun"/>
              </a:rPr>
              <a:t>工程化 T 细胞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913632"/>
            <a:ext cx="233172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596976"/>
                </a:solidFill>
                <a:latin typeface="SimSun"/>
              </a:rPr>
              <a:t>代表：Kymriah、Aucatzyl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359152"/>
            <a:ext cx="2971800" cy="2331720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633472"/>
            <a:ext cx="210312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100">
                <a:solidFill>
                  <a:srgbClr val="12293A"/>
                </a:solidFill>
                <a:latin typeface="SimHei"/>
              </a:rPr>
              <a:t>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310128"/>
            <a:ext cx="22860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00">
                <a:solidFill>
                  <a:srgbClr val="141A1F"/>
                </a:solidFill>
                <a:latin typeface="SimSun"/>
              </a:rPr>
              <a:t>扩增肿瘤内 T 细胞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913632"/>
            <a:ext cx="233172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596976"/>
                </a:solidFill>
                <a:latin typeface="SimSun"/>
              </a:rPr>
              <a:t>代表：Amtagvi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04/15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资料：NCI Immunotherapy；NCI CAR T Cells；FDA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机制一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检查点抑制剂：解除免疫系统“刹车”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癌细胞会借用免疫负调节机制逃逸，检查点抑制剂让 T 细胞重新攻击。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426464"/>
            <a:ext cx="4617720" cy="446227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图2_免疫检查点示意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52294"/>
            <a:ext cx="4251960" cy="24094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3232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关键词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CTLA-4、PD-1、PD-L1。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E59E3A"/>
                </a:solidFill>
                <a:latin typeface="SimHei"/>
              </a:rPr>
              <a:t>Nobel 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抑制免疫负调节治疗癌症获奖。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C04A43"/>
                </a:solidFill>
                <a:latin typeface="SimHei"/>
              </a:rPr>
              <a:t>实例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Pembrolizumab 用于 TMB-H 实体瘤，ORR 29%。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05/15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资料：NCI Immunotherapy；Nobel Prize 2018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机制二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CAR-T：把 T 细胞改造成“活的药物”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CAR-T 的核心不是把药片送进身体，而是把能识别肿瘤的免疫细胞送回身体。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426464"/>
            <a:ext cx="4617720" cy="446227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图3_CAR-T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14135"/>
            <a:ext cx="4251960" cy="2485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3232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采集、工程化、扩增、预处理、回输。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E59E3A"/>
                </a:solidFill>
                <a:latin typeface="SimHei"/>
              </a:rPr>
              <a:t>制造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Kymriah 个体化制造流程约 22 天。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C04A43"/>
                </a:solidFill>
                <a:latin typeface="SimHei"/>
              </a:rPr>
              <a:t>监测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重点关注 CRS 与 ICANS。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06/15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资料：NCI Kymriah approval article；NCI CAR T Cells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CAR-T实例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Kymriah 与 Aucatzyl：疗效必须和风险一起看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CAR-T 已有强疗效证据，但治疗中心必须有处理严重毒性的能力。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32304"/>
            <a:ext cx="5074920" cy="96012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96896"/>
            <a:ext cx="47548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Kymriah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944368"/>
            <a:ext cx="4754880" cy="3017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B-ALL 儿童/青年：63 人试验，3 个月总体缓解率 83%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39312"/>
            <a:ext cx="5074920" cy="96012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03904"/>
            <a:ext cx="47548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46915B"/>
                </a:solidFill>
                <a:latin typeface="SimHei"/>
              </a:rPr>
              <a:t>Aucatzyl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151376"/>
            <a:ext cx="4754880" cy="3017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成人复发/难治 B-ALL：65 人中 27 人 3 个月内 CR，42%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1444752"/>
            <a:ext cx="4617720" cy="44074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图5_风险数据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470454"/>
            <a:ext cx="4251960" cy="220055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07/15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资料：NCI Kymriah article；FDA Aucatzyl Approval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机制三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TIL：放大已经进入肿瘤的 T 细胞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TIL 更像筛出并放大患者体内已有的抗肿瘤免疫反应，Amtagvi 是实体瘤应用节点。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426464"/>
            <a:ext cx="4617720" cy="446227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CI_TIL_therapy_infograph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996" y="1627632"/>
            <a:ext cx="3858768" cy="38587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3232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肿瘤组织分离 T 细胞，体外扩增后回输。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E59E3A"/>
                </a:solidFill>
                <a:latin typeface="SimHei"/>
              </a:rPr>
              <a:t>实例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Amtagvi 推荐剂量患者 ORR 31.5%。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C04A43"/>
                </a:solidFill>
                <a:latin typeface="SimHei"/>
              </a:rPr>
              <a:t>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加速批准仍需确认性试验验证获益。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08/15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图片与资料：National Cancer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四个实例放在一起：证据已经存在，但不能直接横比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不同病种、不同终点、不同患者条件，说明的是“真实证据”，不是疗法排名。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993392"/>
            <a:ext cx="10149840" cy="41148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图4_临床案例证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083" y="2194560"/>
            <a:ext cx="6633913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09/15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资料：FDA；NCI。说明：端点不同，不能直接比较疗法优劣。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临床实践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患者路径：从“开药”到“医疗工程”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细胞治疗需要临床、实验室、制造、运输、监管和随访共同完成。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426464"/>
            <a:ext cx="4617720" cy="446227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图6_患者路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79550"/>
            <a:ext cx="4251960" cy="23549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3232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临床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判断适应证、病情阶段、既往治疗和身体条件。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E59E3A"/>
                </a:solidFill>
                <a:latin typeface="SimHei"/>
              </a:rPr>
              <a:t>制造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完成采集、质控、冻存、运输和回输。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2468880"/>
            <a:ext cx="1572768" cy="16002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633472"/>
            <a:ext cx="12527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C04A43"/>
                </a:solidFill>
                <a:latin typeface="SimHei"/>
              </a:rPr>
              <a:t>随访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80944"/>
            <a:ext cx="1252728" cy="9418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监测疗效、毒性、感染和继发风险。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10/15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资料：NCI CAR T Cells；FDA 相关批准文件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不能讲成万能疗法：实体瘤、毒性、长期风险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强疗效必须配套适应证边界、毒性管理和长期监测。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2395728"/>
            <a:ext cx="2944368" cy="2084831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560320"/>
            <a:ext cx="26243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C04A43"/>
                </a:solidFill>
                <a:latin typeface="SimHei"/>
              </a:rPr>
              <a:t>实体瘤难题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907792"/>
            <a:ext cx="2624328" cy="14264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靶抗原、免疫抑制微环境、肿瘤异质性。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4" y="2395728"/>
            <a:ext cx="2944368" cy="2084831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560320"/>
            <a:ext cx="26243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E59E3A"/>
                </a:solidFill>
                <a:latin typeface="SimHei"/>
              </a:rPr>
              <a:t>急性毒性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907792"/>
            <a:ext cx="2624328" cy="14264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CRS、ICANS 等需要规范识别和处理。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3" y="2395728"/>
            <a:ext cx="2944368" cy="2084831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5" y="2560320"/>
            <a:ext cx="2624328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50">
                <a:solidFill>
                  <a:srgbClr val="1C908B"/>
                </a:solidFill>
                <a:latin typeface="SimHei"/>
              </a:rPr>
              <a:t>长期风险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907792"/>
            <a:ext cx="2624328" cy="14264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30">
                <a:solidFill>
                  <a:srgbClr val="141A1F"/>
                </a:solidFill>
                <a:latin typeface="SimSun"/>
              </a:rPr>
              <a:t>FDA 要求相关 CAR-T 黑框警告并终身监测。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892040"/>
            <a:ext cx="10241280" cy="658368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5102352"/>
            <a:ext cx="859536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  <a:latin typeface="SimHei"/>
              </a:rPr>
              <a:t>表达态度：疗效越强，越要把监管、随访和风险沟通做扎实。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11/15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资料：NCI CAR T Cells；FDA Boxed Warning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伦理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技术突破不等于公共价值已经实现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如果疗法只有少数中心、少数患者能获得，它的公共价值仍然有限。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50592"/>
            <a:ext cx="2697480" cy="1417320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79192"/>
            <a:ext cx="214884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$515,000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328416"/>
            <a:ext cx="22860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150">
                <a:solidFill>
                  <a:srgbClr val="E1F0F2"/>
                </a:solidFill>
                <a:latin typeface="SimSun"/>
              </a:rPr>
              <a:t>NCI 文章报道的 Amtagvi 单次治疗价格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95728"/>
            <a:ext cx="2286000" cy="21031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30">
                <a:solidFill>
                  <a:srgbClr val="141A1F"/>
                </a:solidFill>
                <a:latin typeface="SimSun"/>
              </a:rPr>
              <a:t>• 现实门槛：治疗中心、身体条件、制造周期、保险支付、跨区域转诊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30">
                <a:solidFill>
                  <a:srgbClr val="141A1F"/>
                </a:solidFill>
                <a:latin typeface="SimSun"/>
              </a:rPr>
              <a:t>• 不能把探索性治疗包装成保证有效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30">
                <a:solidFill>
                  <a:srgbClr val="141A1F"/>
                </a:solidFill>
                <a:latin typeface="SimSun"/>
              </a:rPr>
              <a:t>• 应公开疗效、不良反应和长期随访数据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47104" y="1920240"/>
            <a:ext cx="4279392" cy="333756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359152"/>
            <a:ext cx="14173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700">
                <a:solidFill>
                  <a:srgbClr val="C4EBE7"/>
                </a:solidFill>
                <a:latin typeface="SimHei"/>
              </a:rPr>
              <a:t>为什么重要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71800"/>
            <a:ext cx="3456432" cy="11430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SimHei"/>
              </a:rPr>
              <a:t>如果疗法只有少数中心、少数患者能获得，它的公共价值仍然有限。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12/15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资料：NCI TIL approval article；FDA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未来方向：更准、更安全、更可及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下一阶段重点不是堆产品数量，而是降低风险、扩大适应证、改善获得路径。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2359152"/>
            <a:ext cx="2971800" cy="233172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633472"/>
            <a:ext cx="210312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100">
                <a:solidFill>
                  <a:srgbClr val="12293A"/>
                </a:solidFill>
                <a:latin typeface="SimHei"/>
              </a:rPr>
              <a:t>更准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310128"/>
            <a:ext cx="22860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00">
                <a:solidFill>
                  <a:srgbClr val="141A1F"/>
                </a:solidFill>
                <a:latin typeface="SimSun"/>
              </a:rPr>
              <a:t>生物标志物与免疫状态筛选患者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913632"/>
            <a:ext cx="233172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596976"/>
                </a:solidFill>
                <a:latin typeface="SimSun"/>
              </a:rPr>
              <a:t>减少无效治疗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2359152"/>
            <a:ext cx="2971800" cy="2331720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2633472"/>
            <a:ext cx="210312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100">
                <a:solidFill>
                  <a:srgbClr val="12293A"/>
                </a:solidFill>
                <a:latin typeface="SimHei"/>
              </a:rPr>
              <a:t>更安全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3310128"/>
            <a:ext cx="22860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00">
                <a:solidFill>
                  <a:srgbClr val="141A1F"/>
                </a:solidFill>
                <a:latin typeface="SimSun"/>
              </a:rPr>
              <a:t>降低 CRS/ICANS，强化长期登记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913632"/>
            <a:ext cx="233172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596976"/>
                </a:solidFill>
                <a:latin typeface="SimSun"/>
              </a:rPr>
              <a:t>减少严重毒性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359152"/>
            <a:ext cx="2971800" cy="2331720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633472"/>
            <a:ext cx="210312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100">
                <a:solidFill>
                  <a:srgbClr val="12293A"/>
                </a:solidFill>
                <a:latin typeface="SimHei"/>
              </a:rPr>
              <a:t>更可及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310128"/>
            <a:ext cx="22860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00">
                <a:solidFill>
                  <a:srgbClr val="141A1F"/>
                </a:solidFill>
                <a:latin typeface="SimSun"/>
              </a:rPr>
              <a:t>缩短制造周期，完善支付与转诊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913632"/>
            <a:ext cx="233172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596976"/>
                </a:solidFill>
                <a:latin typeface="SimSun"/>
              </a:rPr>
              <a:t>减少治疗差距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13/15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综合资料：NCI；FDA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65760"/>
            <a:ext cx="13716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7955279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00">
                <a:solidFill>
                  <a:srgbClr val="12293A"/>
                </a:solidFill>
                <a:latin typeface="SimHei"/>
              </a:rPr>
              <a:t>结论：支持，但不神化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07592"/>
            <a:ext cx="557784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72184"/>
            <a:ext cx="516636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30">
                <a:solidFill>
                  <a:srgbClr val="12293A"/>
                </a:solidFill>
                <a:latin typeface="SimHei"/>
              </a:rPr>
              <a:t>细胞治疗与免疫治疗把医学从“外部打击疾病”推进到“重塑人体防御系统”。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231136"/>
            <a:ext cx="10012680" cy="71323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23160"/>
            <a:ext cx="91440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30">
                <a:solidFill>
                  <a:srgbClr val="12293A"/>
                </a:solidFill>
                <a:latin typeface="SimSun"/>
              </a:rPr>
              <a:t>已有价值：血液肿瘤、TMB-H 实体瘤、特定黑色素瘤中出现真实临床证据。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255264"/>
            <a:ext cx="10012680" cy="713232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3447288"/>
            <a:ext cx="91440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30">
                <a:solidFill>
                  <a:srgbClr val="12293A"/>
                </a:solidFill>
                <a:latin typeface="SimSun"/>
              </a:rPr>
              <a:t>现实边界：毒性、适应证、实体瘤难题、制造流程和费用可及性。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279392"/>
            <a:ext cx="10012680" cy="713232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" y="4471416"/>
            <a:ext cx="91440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30">
                <a:solidFill>
                  <a:srgbClr val="12293A"/>
                </a:solidFill>
                <a:latin typeface="SimSun"/>
              </a:rPr>
              <a:t>我们的态度：证据充分处积极应用，证据不足处保持审慎。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14/15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综合资料：NCI；FDA；ACS；Nobel Prize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1188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85800"/>
            <a:ext cx="2743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参考资料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5029200" cy="28346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1. ACS 全球癌症统计 2024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2. NCI 免疫治疗说明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3. Nobel Prize 2018 新闻稿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4. NCI Kymriah / CAR-T 资料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5. FDA Pembrolizumab TMB-H 批准说明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508760"/>
            <a:ext cx="5212080" cy="28346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6. FDA Aucatzyl 批准说明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7. FDA Amtagvi / Lifileucel 批准说明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8. FDA CAR-T 黑框警告说明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9. NCI TIL 治疗文章与图片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4892040"/>
            <a:ext cx="1014984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5148072"/>
            <a:ext cx="73152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00">
                <a:solidFill>
                  <a:srgbClr val="12293A"/>
                </a:solidFill>
                <a:latin typeface="SimHei"/>
              </a:rPr>
              <a:t>完整链接已写入《资料来源.md》和报告末尾。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37376"/>
            <a:ext cx="5943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50">
                <a:solidFill>
                  <a:srgbClr val="596976"/>
                </a:solidFill>
                <a:latin typeface="SimHei"/>
              </a:rPr>
              <a:t>15/15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6419088"/>
            <a:ext cx="99669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19">
                <a:solidFill>
                  <a:srgbClr val="596976"/>
                </a:solidFill>
                <a:latin typeface="SimSun"/>
              </a:rPr>
              <a:t>完整链接见资料来源文件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