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.jpe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图0_封面细胞插画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02920" y="530352"/>
            <a:ext cx="6629400" cy="5440680"/>
          </a:xfrm>
          <a:prstGeom prst="roundRect">
            <a:avLst/>
          </a:prstGeom>
          <a:solidFill>
            <a:srgbClr val="12293A"/>
          </a:solidFill>
          <a:ln w="12700">
            <a:solidFill>
              <a:srgbClr val="1229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41248"/>
            <a:ext cx="274320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1400" b="1">
                <a:solidFill>
                  <a:srgbClr val="C4EBE7"/>
                </a:solidFill>
                <a:latin typeface="黑体" panose="02010609060101010101" charset="-122"/>
              </a:rPr>
              <a:t>医学发展史课程汇报</a:t>
            </a:r>
            <a:endParaRPr sz="1400" b="1">
              <a:solidFill>
                <a:srgbClr val="C4EBE7"/>
              </a:solidFill>
              <a:latin typeface="黑体" panose="02010609060101010101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5532120" cy="64008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黑体" panose="02010609060101010101" charset="-122"/>
              </a:rPr>
              <a:t>疾病的细胞治疗与免疫治疗</a:t>
            </a:r>
            <a:endParaRPr sz="3300" b="1">
              <a:solidFill>
                <a:srgbClr val="FFFFFF"/>
              </a:solidFill>
              <a:latin typeface="黑体" panose="02010609060101010101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41248" y="2084831"/>
            <a:ext cx="5486400" cy="420624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1720" b="0">
                <a:solidFill>
                  <a:srgbClr val="DCEBEE"/>
                </a:solidFill>
                <a:latin typeface="黑体" panose="02010609060101010101" charset="-122"/>
              </a:rPr>
              <a:t>从外部杀伤到免疫重塑：医学治疗逻辑的转变</a:t>
            </a:r>
            <a:endParaRPr sz="1720" b="0">
              <a:solidFill>
                <a:srgbClr val="DCEBEE"/>
              </a:solidFill>
              <a:latin typeface="黑体" panose="02010609060101010101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859536" y="2999232"/>
            <a:ext cx="5394960" cy="1024128"/>
          </a:xfrm>
          <a:prstGeom prst="round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182112"/>
            <a:ext cx="1005840" cy="22860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1260" b="1">
                <a:solidFill>
                  <a:srgbClr val="C4EBE7"/>
                </a:solidFill>
                <a:latin typeface="黑体" panose="02010609060101010101" charset="-122"/>
              </a:rPr>
              <a:t>核心观点</a:t>
            </a:r>
            <a:endParaRPr sz="1260" b="1">
              <a:solidFill>
                <a:srgbClr val="C4EBE7"/>
              </a:solidFill>
              <a:latin typeface="黑体" panose="02010609060101010101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05840" y="3562985"/>
            <a:ext cx="5122545" cy="529590"/>
          </a:xfrm>
          <a:prstGeom prst="rect">
            <a:avLst/>
          </a:prstGeom>
          <a:noFill/>
        </p:spPr>
        <p:txBody>
          <a:bodyPr wrap="square" lIns="27432" tIns="9144" rIns="27432" bIns="9144" anchor="t">
            <a:noAutofit/>
          </a:bodyPr>
          <a:lstStyle/>
          <a:p>
            <a:pPr algn="l"/>
            <a:r>
              <a:rPr sz="1650" b="1">
                <a:solidFill>
                  <a:srgbClr val="FFFFFF"/>
                </a:solidFill>
                <a:latin typeface="黑体" panose="02010609060101010101" charset="-122"/>
              </a:rPr>
              <a:t>支持发展，但不神化；用证据、风险和可及性一起判断。</a:t>
            </a:r>
            <a:endParaRPr sz="1650" b="1">
              <a:solidFill>
                <a:srgbClr val="FFFFFF"/>
              </a:solidFill>
              <a:latin typeface="黑体" panose="02010609060101010101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32688" y="4462272"/>
            <a:ext cx="4297680" cy="22733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E2F2F4"/>
                </a:solidFill>
                <a:latin typeface="宋体" panose="02010600030101010101" pitchFamily="2" charset="-122"/>
              </a:rPr>
              <a:t>组员：张思成 </a:t>
            </a:r>
            <a:r>
              <a:rPr sz="1300">
                <a:solidFill>
                  <a:srgbClr val="E2F2F4"/>
                </a:solidFill>
                <a:latin typeface="宋体" panose="02010600030101010101" pitchFamily="2" charset="-122"/>
                <a:sym typeface="+mn-ea"/>
              </a:rPr>
              <a:t> / 程宇轩</a:t>
            </a:r>
            <a:r>
              <a:rPr lang="en-US" sz="1300">
                <a:solidFill>
                  <a:srgbClr val="E2F2F4"/>
                </a:solidFill>
                <a:latin typeface="宋体" panose="02010600030101010101" pitchFamily="2" charset="-122"/>
                <a:sym typeface="+mn-ea"/>
              </a:rPr>
              <a:t> </a:t>
            </a:r>
            <a:r>
              <a:rPr sz="1300" b="0">
                <a:solidFill>
                  <a:srgbClr val="E2F2F4"/>
                </a:solidFill>
                <a:latin typeface="宋体" panose="02010600030101010101" pitchFamily="2" charset="-122"/>
              </a:rPr>
              <a:t>/ 陈浩文</a:t>
            </a:r>
            <a:endParaRPr sz="1300" b="0">
              <a:solidFill>
                <a:srgbClr val="E2F2F4"/>
              </a:solidFill>
              <a:latin typeface="宋体" panose="02010600030101010101" pitchFamily="2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57200" y="6419088"/>
            <a:ext cx="548640" cy="201168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820" b="1">
                <a:solidFill>
                  <a:srgbClr val="586874"/>
                </a:solidFill>
                <a:latin typeface="黑体" panose="02010609060101010101" charset="-122"/>
              </a:rPr>
              <a:t>01/15</a:t>
            </a:r>
            <a:endParaRPr sz="820" b="1">
              <a:solidFill>
                <a:srgbClr val="586874"/>
              </a:solidFill>
              <a:latin typeface="黑体" panose="02010609060101010101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347472"/>
            <a:ext cx="1463040" cy="22860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1100" b="1">
                <a:solidFill>
                  <a:srgbClr val="1C908B"/>
                </a:solidFill>
                <a:latin typeface="黑体" panose="02010609060101010101" charset="-122"/>
              </a:rPr>
              <a:t>主线</a:t>
            </a:r>
            <a:endParaRPr sz="1100" b="1">
              <a:solidFill>
                <a:srgbClr val="1C908B"/>
              </a:solidFill>
              <a:latin typeface="黑体" panose="02010609060101010101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0352" y="658368"/>
            <a:ext cx="8412480" cy="53035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2550" b="1">
                <a:solidFill>
                  <a:srgbClr val="12293A"/>
                </a:solidFill>
                <a:latin typeface="黑体" panose="02010609060101010101" charset="-122"/>
              </a:rPr>
              <a:t>为什么这是医学史问题</a:t>
            </a:r>
            <a:endParaRPr sz="2550" b="1">
              <a:solidFill>
                <a:srgbClr val="12293A"/>
              </a:solidFill>
              <a:latin typeface="黑体" panose="02010609060101010101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66928" y="1298448"/>
            <a:ext cx="10927080" cy="530352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444752"/>
            <a:ext cx="10424160" cy="25603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1420" b="1">
                <a:solidFill>
                  <a:srgbClr val="12293A"/>
                </a:solidFill>
                <a:latin typeface="黑体" panose="02010609060101010101" charset="-122"/>
              </a:rPr>
              <a:t>它不是一种新药的出现，而是一种治疗范式的变化。</a:t>
            </a:r>
            <a:endParaRPr sz="1420" b="1">
              <a:solidFill>
                <a:srgbClr val="12293A"/>
              </a:solidFill>
              <a:latin typeface="黑体" panose="02010609060101010101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6419088"/>
            <a:ext cx="548640" cy="201168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820" b="1">
                <a:solidFill>
                  <a:srgbClr val="586874"/>
                </a:solidFill>
                <a:latin typeface="黑体" panose="02010609060101010101" charset="-122"/>
              </a:rPr>
              <a:t>02/15</a:t>
            </a:r>
            <a:endParaRPr sz="820" b="1">
              <a:solidFill>
                <a:srgbClr val="586874"/>
              </a:solidFill>
              <a:latin typeface="黑体" panose="02010609060101010101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22960" y="2240280"/>
            <a:ext cx="4434840" cy="2788920"/>
          </a:xfrm>
          <a:prstGeom prst="roundRect">
            <a:avLst/>
          </a:prstGeom>
          <a:solidFill>
            <a:srgbClr val="F7EFEE"/>
          </a:solidFill>
          <a:ln w="12700">
            <a:solidFill>
              <a:srgbClr val="E1CD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2578608"/>
            <a:ext cx="1188720" cy="292608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2000" b="1">
                <a:solidFill>
                  <a:srgbClr val="C04A43"/>
                </a:solidFill>
                <a:latin typeface="黑体" panose="02010609060101010101" charset="-122"/>
              </a:rPr>
              <a:t>传统逻辑</a:t>
            </a:r>
            <a:endParaRPr sz="2000" b="1">
              <a:solidFill>
                <a:srgbClr val="C04A43"/>
              </a:solidFill>
              <a:latin typeface="黑体" panose="02010609060101010101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170432" y="3090672"/>
            <a:ext cx="2194560" cy="32004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2400" b="1">
                <a:solidFill>
                  <a:srgbClr val="12293A"/>
                </a:solidFill>
                <a:latin typeface="黑体" panose="02010609060101010101" charset="-122"/>
              </a:rPr>
              <a:t>外部杀伤疾病</a:t>
            </a:r>
            <a:endParaRPr sz="2400" b="1">
              <a:solidFill>
                <a:srgbClr val="12293A"/>
              </a:solidFill>
              <a:latin typeface="黑体" panose="02010609060101010101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188720" y="3703320"/>
            <a:ext cx="3383280" cy="77724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420" b="0">
                <a:solidFill>
                  <a:srgbClr val="141A1F"/>
                </a:solidFill>
                <a:latin typeface="宋体" panose="02010600030101010101" pitchFamily="2" charset="-122"/>
              </a:rPr>
              <a:t>手术切除</a:t>
            </a:r>
            <a:endParaRPr sz="1420" b="0">
              <a:solidFill>
                <a:srgbClr val="141A1F"/>
              </a:solidFill>
              <a:latin typeface="宋体" panose="02010600030101010101" pitchFamily="2" charset="-122"/>
            </a:endParaRP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420" b="0">
                <a:solidFill>
                  <a:srgbClr val="141A1F"/>
                </a:solidFill>
                <a:latin typeface="宋体" panose="02010600030101010101" pitchFamily="2" charset="-122"/>
              </a:rPr>
              <a:t>放疗破坏 DNA</a:t>
            </a:r>
            <a:endParaRPr sz="1420" b="0">
              <a:solidFill>
                <a:srgbClr val="141A1F"/>
              </a:solidFill>
              <a:latin typeface="宋体" panose="02010600030101010101" pitchFamily="2" charset="-122"/>
            </a:endParaRP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420" b="0">
                <a:solidFill>
                  <a:srgbClr val="141A1F"/>
                </a:solidFill>
                <a:latin typeface="宋体" panose="02010600030101010101" pitchFamily="2" charset="-122"/>
              </a:rPr>
              <a:t>化疗抑制增殖</a:t>
            </a:r>
            <a:endParaRPr sz="1420" b="0">
              <a:solidFill>
                <a:srgbClr val="141A1F"/>
              </a:solidFill>
              <a:latin typeface="宋体" panose="02010600030101010101" pitchFamily="2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596128" y="3310128"/>
            <a:ext cx="640080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3400" b="1">
                <a:solidFill>
                  <a:srgbClr val="586874"/>
                </a:solidFill>
                <a:latin typeface="黑体" panose="02010609060101010101" charset="-122"/>
              </a:rPr>
              <a:t>→</a:t>
            </a:r>
            <a:endParaRPr sz="3400" b="1">
              <a:solidFill>
                <a:srgbClr val="586874"/>
              </a:solidFill>
              <a:latin typeface="黑体" panose="02010609060101010101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446520" y="2240280"/>
            <a:ext cx="4434840" cy="2788920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12280" y="2578608"/>
            <a:ext cx="914400" cy="292608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2000" b="1">
                <a:solidFill>
                  <a:srgbClr val="1C908B"/>
                </a:solidFill>
                <a:latin typeface="黑体" panose="02010609060101010101" charset="-122"/>
              </a:rPr>
              <a:t>新逻辑</a:t>
            </a:r>
            <a:endParaRPr sz="2000" b="1">
              <a:solidFill>
                <a:srgbClr val="1C908B"/>
              </a:solidFill>
              <a:latin typeface="黑体" panose="02010609060101010101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812280" y="3090672"/>
            <a:ext cx="2971800" cy="32004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2300" b="1">
                <a:solidFill>
                  <a:srgbClr val="12293A"/>
                </a:solidFill>
                <a:latin typeface="黑体" panose="02010609060101010101" charset="-122"/>
              </a:rPr>
              <a:t>免疫系统成为治疗对象</a:t>
            </a:r>
            <a:endParaRPr sz="2300" b="1">
              <a:solidFill>
                <a:srgbClr val="12293A"/>
              </a:solidFill>
              <a:latin typeface="黑体" panose="02010609060101010101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839712" y="3703320"/>
            <a:ext cx="3383280" cy="77724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420" b="0">
                <a:solidFill>
                  <a:srgbClr val="141A1F"/>
                </a:solidFill>
                <a:latin typeface="宋体" panose="02010600030101010101" pitchFamily="2" charset="-122"/>
              </a:rPr>
              <a:t>解除免疫抑制</a:t>
            </a:r>
            <a:endParaRPr sz="1420" b="0">
              <a:solidFill>
                <a:srgbClr val="141A1F"/>
              </a:solidFill>
              <a:latin typeface="宋体" panose="02010600030101010101" pitchFamily="2" charset="-122"/>
            </a:endParaRP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420" b="0">
                <a:solidFill>
                  <a:srgbClr val="141A1F"/>
                </a:solidFill>
                <a:latin typeface="宋体" panose="02010600030101010101" pitchFamily="2" charset="-122"/>
              </a:rPr>
              <a:t>工程化 T 细胞</a:t>
            </a:r>
            <a:endParaRPr sz="1420" b="0">
              <a:solidFill>
                <a:srgbClr val="141A1F"/>
              </a:solidFill>
              <a:latin typeface="宋体" panose="02010600030101010101" pitchFamily="2" charset="-122"/>
            </a:endParaRP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420" b="0">
                <a:solidFill>
                  <a:srgbClr val="141A1F"/>
                </a:solidFill>
                <a:latin typeface="宋体" panose="02010600030101010101" pitchFamily="2" charset="-122"/>
              </a:rPr>
              <a:t>放大已有免疫反应</a:t>
            </a:r>
            <a:endParaRPr sz="1420" b="0">
              <a:solidFill>
                <a:srgbClr val="141A1F"/>
              </a:solidFill>
              <a:latin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347472"/>
            <a:ext cx="1463040" cy="22860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1100" b="1">
                <a:solidFill>
                  <a:srgbClr val="1C908B"/>
                </a:solidFill>
                <a:latin typeface="黑体" panose="02010609060101010101" charset="-122"/>
              </a:rPr>
              <a:t>背景</a:t>
            </a:r>
            <a:endParaRPr sz="1100" b="1">
              <a:solidFill>
                <a:srgbClr val="1C908B"/>
              </a:solidFill>
              <a:latin typeface="黑体" panose="02010609060101010101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0352" y="658368"/>
            <a:ext cx="8412480" cy="53035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2550" b="1">
                <a:solidFill>
                  <a:srgbClr val="12293A"/>
                </a:solidFill>
                <a:latin typeface="黑体" panose="02010609060101010101" charset="-122"/>
              </a:rPr>
              <a:t>为什么癌症治疗需要新逻辑</a:t>
            </a:r>
            <a:endParaRPr sz="2550" b="1">
              <a:solidFill>
                <a:srgbClr val="12293A"/>
              </a:solidFill>
              <a:latin typeface="黑体" panose="02010609060101010101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66928" y="1298448"/>
            <a:ext cx="10927080" cy="530352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444752"/>
            <a:ext cx="10424160" cy="25603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1420" b="1">
                <a:solidFill>
                  <a:srgbClr val="12293A"/>
                </a:solidFill>
                <a:latin typeface="黑体" panose="02010609060101010101" charset="-122"/>
              </a:rPr>
              <a:t>癌症负担和复发耐药，推动医学寻找超越单纯杀伤的治疗路径。</a:t>
            </a:r>
            <a:endParaRPr sz="1420" b="1">
              <a:solidFill>
                <a:srgbClr val="12293A"/>
              </a:solidFill>
              <a:latin typeface="黑体" panose="02010609060101010101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6419088"/>
            <a:ext cx="548640" cy="201168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820" b="1">
                <a:solidFill>
                  <a:srgbClr val="586874"/>
                </a:solidFill>
                <a:latin typeface="黑体" panose="02010609060101010101" charset="-122"/>
              </a:rPr>
              <a:t>03/15</a:t>
            </a:r>
            <a:endParaRPr sz="820" b="1">
              <a:solidFill>
                <a:srgbClr val="586874"/>
              </a:solidFill>
              <a:latin typeface="黑体" panose="02010609060101010101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786384" y="2304288"/>
            <a:ext cx="3154680" cy="1572768"/>
          </a:xfrm>
          <a:prstGeom prst="round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2532888"/>
            <a:ext cx="2697480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3100" b="1">
                <a:solidFill>
                  <a:srgbClr val="FFFFFF"/>
                </a:solidFill>
                <a:latin typeface="黑体" panose="02010609060101010101" charset="-122"/>
              </a:rPr>
              <a:t>2000万</a:t>
            </a:r>
            <a:endParaRPr sz="3100" b="1">
              <a:solidFill>
                <a:srgbClr val="FFFFFF"/>
              </a:solidFill>
              <a:latin typeface="黑体" panose="02010609060101010101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078992" y="3182112"/>
            <a:ext cx="2560320" cy="41148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220" b="0">
                <a:solidFill>
                  <a:srgbClr val="E6F4F6"/>
                </a:solidFill>
                <a:latin typeface="宋体" panose="02010600030101010101" pitchFamily="2" charset="-122"/>
              </a:rPr>
              <a:t>2022 年全球新发癌症病例</a:t>
            </a:r>
            <a:endParaRPr sz="1220" b="0">
              <a:solidFill>
                <a:srgbClr val="E6F4F6"/>
              </a:solidFill>
              <a:latin typeface="宋体" panose="02010600030101010101" pitchFamily="2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498848" y="2304288"/>
            <a:ext cx="3154680" cy="1572768"/>
          </a:xfrm>
          <a:prstGeom prst="roundRect">
            <a:avLst/>
          </a:prstGeom>
          <a:solidFill>
            <a:srgbClr val="C04A43"/>
          </a:solidFill>
          <a:ln w="12700">
            <a:solidFill>
              <a:srgbClr val="C04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27448" y="2532888"/>
            <a:ext cx="2697480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3100" b="1">
                <a:solidFill>
                  <a:srgbClr val="FFFFFF"/>
                </a:solidFill>
                <a:latin typeface="黑体" panose="02010609060101010101" charset="-122"/>
              </a:rPr>
              <a:t>970万</a:t>
            </a:r>
            <a:endParaRPr sz="3100" b="1">
              <a:solidFill>
                <a:srgbClr val="FFFFFF"/>
              </a:solidFill>
              <a:latin typeface="黑体" panose="02010609060101010101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791456" y="3182112"/>
            <a:ext cx="2560320" cy="41148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220" b="0">
                <a:solidFill>
                  <a:srgbClr val="E6F4F6"/>
                </a:solidFill>
                <a:latin typeface="宋体" panose="02010600030101010101" pitchFamily="2" charset="-122"/>
              </a:rPr>
              <a:t>2022 年全球癌症死亡</a:t>
            </a:r>
            <a:endParaRPr sz="1220" b="0">
              <a:solidFill>
                <a:srgbClr val="E6F4F6"/>
              </a:solidFill>
              <a:latin typeface="宋体" panose="02010600030101010101" pitchFamily="2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211312" y="2304288"/>
            <a:ext cx="3154680" cy="1572768"/>
          </a:xfrm>
          <a:prstGeom prst="roundRect">
            <a:avLst/>
          </a:prstGeom>
          <a:solidFill>
            <a:srgbClr val="E59E3A"/>
          </a:solidFill>
          <a:ln w="12700">
            <a:solidFill>
              <a:srgbClr val="E59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9912" y="2532888"/>
            <a:ext cx="2697480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3100" b="1">
                <a:solidFill>
                  <a:srgbClr val="FFFFFF"/>
                </a:solidFill>
                <a:latin typeface="黑体" panose="02010609060101010101" charset="-122"/>
              </a:rPr>
              <a:t>3500万</a:t>
            </a:r>
            <a:endParaRPr sz="3100" b="1">
              <a:solidFill>
                <a:srgbClr val="FFFFFF"/>
              </a:solidFill>
              <a:latin typeface="黑体" panose="02010609060101010101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503920" y="3182112"/>
            <a:ext cx="2560320" cy="41148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220" b="0">
                <a:solidFill>
                  <a:srgbClr val="E6F4F6"/>
                </a:solidFill>
                <a:latin typeface="宋体" panose="02010600030101010101" pitchFamily="2" charset="-122"/>
              </a:rPr>
              <a:t>2050 年新发病例预计</a:t>
            </a:r>
            <a:endParaRPr sz="1220" b="0">
              <a:solidFill>
                <a:srgbClr val="E6F4F6"/>
              </a:solidFill>
              <a:latin typeface="宋体" panose="02010600030101010101" pitchFamily="2" charset="-122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1115568" y="4709160"/>
            <a:ext cx="9966960" cy="713232"/>
          </a:xfrm>
          <a:prstGeom prst="roundRect">
            <a:avLst/>
          </a:prstGeom>
          <a:solidFill>
            <a:srgbClr val="12293A"/>
          </a:solidFill>
          <a:ln w="12700">
            <a:solidFill>
              <a:srgbClr val="1229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63040" y="4928616"/>
            <a:ext cx="8961120" cy="22860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1650" b="1">
                <a:solidFill>
                  <a:srgbClr val="FFFFFF"/>
                </a:solidFill>
                <a:latin typeface="黑体" panose="02010609060101010101" charset="-122"/>
              </a:rPr>
              <a:t>结论：问题不只是“还需要新药”，而是传统治疗逻辑面对长期负担时需要升级。</a:t>
            </a:r>
            <a:endParaRPr sz="1650" b="1">
              <a:solidFill>
                <a:srgbClr val="FFFFFF"/>
              </a:solidFill>
              <a:latin typeface="黑体" panose="02010609060101010101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347472"/>
            <a:ext cx="1463040" cy="22860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1100" b="1">
                <a:solidFill>
                  <a:srgbClr val="1C908B"/>
                </a:solidFill>
                <a:latin typeface="黑体" panose="02010609060101010101" charset="-122"/>
              </a:rPr>
              <a:t>历史</a:t>
            </a:r>
            <a:endParaRPr sz="1100" b="1">
              <a:solidFill>
                <a:srgbClr val="1C908B"/>
              </a:solidFill>
              <a:latin typeface="黑体" panose="02010609060101010101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0352" y="658368"/>
            <a:ext cx="8412480" cy="53035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2550" b="1">
                <a:solidFill>
                  <a:srgbClr val="12293A"/>
                </a:solidFill>
                <a:latin typeface="黑体" panose="02010609060101010101" charset="-122"/>
              </a:rPr>
              <a:t>从外部杀伤到免疫重塑</a:t>
            </a:r>
            <a:endParaRPr sz="2550" b="1">
              <a:solidFill>
                <a:srgbClr val="12293A"/>
              </a:solidFill>
              <a:latin typeface="黑体" panose="02010609060101010101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66928" y="1298448"/>
            <a:ext cx="10927080" cy="530352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444752"/>
            <a:ext cx="10424160" cy="25603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1420" b="1">
                <a:solidFill>
                  <a:srgbClr val="12293A"/>
                </a:solidFill>
                <a:latin typeface="黑体" panose="02010609060101010101" charset="-122"/>
              </a:rPr>
              <a:t>医学治疗对象从肿瘤本身，逐渐扩展到免疫系统。</a:t>
            </a:r>
            <a:endParaRPr sz="1420" b="1">
              <a:solidFill>
                <a:srgbClr val="12293A"/>
              </a:solidFill>
              <a:latin typeface="黑体" panose="02010609060101010101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6419088"/>
            <a:ext cx="548640" cy="201168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820" b="1">
                <a:solidFill>
                  <a:srgbClr val="586874"/>
                </a:solidFill>
                <a:latin typeface="黑体" panose="02010609060101010101" charset="-122"/>
              </a:rPr>
              <a:t>04/15</a:t>
            </a:r>
            <a:endParaRPr sz="820" b="1">
              <a:solidFill>
                <a:srgbClr val="586874"/>
              </a:solidFill>
              <a:latin typeface="黑体" panose="02010609060101010101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22960" y="3136392"/>
            <a:ext cx="10607040" cy="45720"/>
          </a:xfrm>
          <a:prstGeom prst="rect">
            <a:avLst/>
          </a:prstGeom>
          <a:solidFill>
            <a:srgbClr val="CFDBE1"/>
          </a:solidFill>
          <a:ln w="12700">
            <a:solidFill>
              <a:srgbClr val="CF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898648"/>
            <a:ext cx="493776" cy="493776"/>
          </a:xfrm>
          <a:prstGeom prst="roundRect">
            <a:avLst/>
          </a:prstGeom>
          <a:solidFill>
            <a:srgbClr val="586874"/>
          </a:solidFill>
          <a:ln w="12700">
            <a:solidFill>
              <a:srgbClr val="5868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2221992"/>
            <a:ext cx="1353312" cy="22860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220" b="1">
                <a:solidFill>
                  <a:srgbClr val="586874"/>
                </a:solidFill>
                <a:latin typeface="黑体" panose="02010609060101010101" charset="-122"/>
              </a:rPr>
              <a:t>传统</a:t>
            </a:r>
            <a:endParaRPr sz="1220" b="1">
              <a:solidFill>
                <a:srgbClr val="586874"/>
              </a:solidFill>
              <a:latin typeface="黑体" panose="02010609060101010101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03504" y="3611880"/>
            <a:ext cx="1554480" cy="25603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380" b="1">
                <a:solidFill>
                  <a:srgbClr val="12293A"/>
                </a:solidFill>
                <a:latin typeface="黑体" panose="02010609060101010101" charset="-122"/>
              </a:rPr>
              <a:t>手术/放疗</a:t>
            </a:r>
            <a:endParaRPr sz="1380" b="1">
              <a:solidFill>
                <a:srgbClr val="12293A"/>
              </a:solidFill>
              <a:latin typeface="黑体" panose="02010609060101010101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76072" y="4078224"/>
            <a:ext cx="1609344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060" b="0">
                <a:solidFill>
                  <a:srgbClr val="141A1F"/>
                </a:solidFill>
                <a:latin typeface="宋体" panose="02010600030101010101" pitchFamily="2" charset="-122"/>
              </a:rPr>
              <a:t>直接清除或破坏病灶</a:t>
            </a:r>
            <a:endParaRPr sz="1060" b="0">
              <a:solidFill>
                <a:srgbClr val="141A1F"/>
              </a:solidFill>
              <a:latin typeface="宋体" panose="02010600030101010101" pitchFamily="2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2999231" y="2898648"/>
            <a:ext cx="493776" cy="493776"/>
          </a:xfrm>
          <a:prstGeom prst="roundRect">
            <a:avLst/>
          </a:prstGeom>
          <a:solidFill>
            <a:srgbClr val="E59E3A"/>
          </a:solidFill>
          <a:ln w="12700">
            <a:solidFill>
              <a:srgbClr val="E59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69463" y="2221992"/>
            <a:ext cx="1353312" cy="22860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220" b="1">
                <a:solidFill>
                  <a:srgbClr val="E59E3A"/>
                </a:solidFill>
                <a:latin typeface="黑体" panose="02010609060101010101" charset="-122"/>
              </a:rPr>
              <a:t>1950s–1970s</a:t>
            </a:r>
            <a:endParaRPr sz="1220" b="1">
              <a:solidFill>
                <a:srgbClr val="E59E3A"/>
              </a:solidFill>
              <a:latin typeface="黑体" panose="02010609060101010101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459735" y="3611880"/>
            <a:ext cx="1554480" cy="25603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380" b="1">
                <a:solidFill>
                  <a:srgbClr val="12293A"/>
                </a:solidFill>
                <a:latin typeface="黑体" panose="02010609060101010101" charset="-122"/>
              </a:rPr>
              <a:t>化疗发展</a:t>
            </a:r>
            <a:endParaRPr sz="1380" b="1">
              <a:solidFill>
                <a:srgbClr val="12293A"/>
              </a:solidFill>
              <a:latin typeface="黑体" panose="02010609060101010101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432303" y="4078224"/>
            <a:ext cx="1609344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060" b="0">
                <a:solidFill>
                  <a:srgbClr val="141A1F"/>
                </a:solidFill>
                <a:latin typeface="宋体" panose="02010600030101010101" pitchFamily="2" charset="-122"/>
              </a:rPr>
              <a:t>用药物抑制快速增殖</a:t>
            </a:r>
            <a:endParaRPr sz="1060" b="0">
              <a:solidFill>
                <a:srgbClr val="141A1F"/>
              </a:solidFill>
              <a:latin typeface="宋体" panose="02010600030101010101" pitchFamily="2" charset="-122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4855464" y="2898648"/>
            <a:ext cx="493776" cy="493776"/>
          </a:xfrm>
          <a:prstGeom prst="roundRect">
            <a:avLst/>
          </a:prstGeom>
          <a:solidFill>
            <a:srgbClr val="46915B"/>
          </a:solidFill>
          <a:ln w="12700">
            <a:solidFill>
              <a:srgbClr val="4691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25696" y="2221992"/>
            <a:ext cx="1353312" cy="22860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220" b="1">
                <a:solidFill>
                  <a:srgbClr val="46915B"/>
                </a:solidFill>
                <a:latin typeface="黑体" panose="02010609060101010101" charset="-122"/>
              </a:rPr>
              <a:t>1997</a:t>
            </a:r>
            <a:endParaRPr sz="1220" b="1">
              <a:solidFill>
                <a:srgbClr val="46915B"/>
              </a:solidFill>
              <a:latin typeface="黑体" panose="02010609060101010101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4315968" y="3611880"/>
            <a:ext cx="1554480" cy="25603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380" b="1">
                <a:solidFill>
                  <a:srgbClr val="12293A"/>
                </a:solidFill>
                <a:latin typeface="黑体" panose="02010609060101010101" charset="-122"/>
              </a:rPr>
              <a:t>单克隆抗体</a:t>
            </a:r>
            <a:endParaRPr sz="1380" b="1">
              <a:solidFill>
                <a:srgbClr val="12293A"/>
              </a:solidFill>
              <a:latin typeface="黑体" panose="02010609060101010101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288536" y="4078224"/>
            <a:ext cx="1609344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060" b="0">
                <a:solidFill>
                  <a:srgbClr val="141A1F"/>
                </a:solidFill>
                <a:latin typeface="宋体" panose="02010600030101010101" pitchFamily="2" charset="-122"/>
              </a:rPr>
              <a:t>识别特定靶点</a:t>
            </a:r>
            <a:endParaRPr sz="1060" b="0">
              <a:solidFill>
                <a:srgbClr val="141A1F"/>
              </a:solidFill>
              <a:latin typeface="宋体" panose="02010600030101010101" pitchFamily="2" charset="-122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6711696" y="2898648"/>
            <a:ext cx="493776" cy="493776"/>
          </a:xfrm>
          <a:prstGeom prst="round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81928" y="2221992"/>
            <a:ext cx="1353312" cy="22860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220" b="1">
                <a:solidFill>
                  <a:srgbClr val="1C908B"/>
                </a:solidFill>
                <a:latin typeface="黑体" panose="02010609060101010101" charset="-122"/>
              </a:rPr>
              <a:t>2011</a:t>
            </a:r>
            <a:endParaRPr sz="1220" b="1">
              <a:solidFill>
                <a:srgbClr val="1C908B"/>
              </a:solidFill>
              <a:latin typeface="黑体" panose="02010609060101010101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172200" y="3611880"/>
            <a:ext cx="1554480" cy="25603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380" b="1">
                <a:solidFill>
                  <a:srgbClr val="12293A"/>
                </a:solidFill>
                <a:latin typeface="黑体" panose="02010609060101010101" charset="-122"/>
              </a:rPr>
              <a:t>检查点抑制剂</a:t>
            </a:r>
            <a:endParaRPr sz="1380" b="1">
              <a:solidFill>
                <a:srgbClr val="12293A"/>
              </a:solidFill>
              <a:latin typeface="黑体" panose="02010609060101010101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144768" y="4078224"/>
            <a:ext cx="1609344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060" b="0">
                <a:solidFill>
                  <a:srgbClr val="141A1F"/>
                </a:solidFill>
                <a:latin typeface="宋体" panose="02010600030101010101" pitchFamily="2" charset="-122"/>
              </a:rPr>
              <a:t>解除免疫刹车</a:t>
            </a:r>
            <a:endParaRPr sz="1060" b="0">
              <a:solidFill>
                <a:srgbClr val="141A1F"/>
              </a:solidFill>
              <a:latin typeface="宋体" panose="02010600030101010101" pitchFamily="2" charset="-122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8567928" y="2898648"/>
            <a:ext cx="493776" cy="493776"/>
          </a:xfrm>
          <a:prstGeom prst="roundRect">
            <a:avLst/>
          </a:prstGeom>
          <a:solidFill>
            <a:srgbClr val="1C3848"/>
          </a:solidFill>
          <a:ln w="12700">
            <a:solidFill>
              <a:srgbClr val="1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38159" y="2221992"/>
            <a:ext cx="1353312" cy="22860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220" b="1">
                <a:solidFill>
                  <a:srgbClr val="1C3848"/>
                </a:solidFill>
                <a:latin typeface="黑体" panose="02010609060101010101" charset="-122"/>
              </a:rPr>
              <a:t>2017</a:t>
            </a:r>
            <a:endParaRPr sz="1220" b="1">
              <a:solidFill>
                <a:srgbClr val="1C3848"/>
              </a:solidFill>
              <a:latin typeface="黑体" panose="02010609060101010101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028431" y="3611880"/>
            <a:ext cx="1554480" cy="25603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380" b="1">
                <a:solidFill>
                  <a:srgbClr val="12293A"/>
                </a:solidFill>
                <a:latin typeface="黑体" panose="02010609060101010101" charset="-122"/>
              </a:rPr>
              <a:t>CAR-T</a:t>
            </a:r>
            <a:endParaRPr sz="1380" b="1">
              <a:solidFill>
                <a:srgbClr val="12293A"/>
              </a:solidFill>
              <a:latin typeface="黑体" panose="02010609060101010101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8000999" y="4078224"/>
            <a:ext cx="1609344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060" b="0">
                <a:solidFill>
                  <a:srgbClr val="141A1F"/>
                </a:solidFill>
                <a:latin typeface="宋体" panose="02010600030101010101" pitchFamily="2" charset="-122"/>
              </a:rPr>
              <a:t>改造患者 T 细胞</a:t>
            </a:r>
            <a:endParaRPr sz="1060" b="0">
              <a:solidFill>
                <a:srgbClr val="141A1F"/>
              </a:solidFill>
              <a:latin typeface="宋体" panose="02010600030101010101" pitchFamily="2" charset="-122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10424159" y="2898648"/>
            <a:ext cx="493776" cy="493776"/>
          </a:xfrm>
          <a:prstGeom prst="roundRect">
            <a:avLst/>
          </a:prstGeom>
          <a:solidFill>
            <a:srgbClr val="C04A43"/>
          </a:solidFill>
          <a:ln w="12700">
            <a:solidFill>
              <a:srgbClr val="C04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94391" y="2221992"/>
            <a:ext cx="1353312" cy="22860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220" b="1">
                <a:solidFill>
                  <a:srgbClr val="C04A43"/>
                </a:solidFill>
                <a:latin typeface="黑体" panose="02010609060101010101" charset="-122"/>
              </a:rPr>
              <a:t>2024</a:t>
            </a:r>
            <a:endParaRPr sz="1220" b="1">
              <a:solidFill>
                <a:srgbClr val="C04A43"/>
              </a:solidFill>
              <a:latin typeface="黑体" panose="02010609060101010101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9884663" y="3611880"/>
            <a:ext cx="1554480" cy="25603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380" b="1">
                <a:solidFill>
                  <a:srgbClr val="12293A"/>
                </a:solidFill>
                <a:latin typeface="黑体" panose="02010609060101010101" charset="-122"/>
              </a:rPr>
              <a:t>TIL</a:t>
            </a:r>
            <a:endParaRPr sz="1380" b="1">
              <a:solidFill>
                <a:srgbClr val="12293A"/>
              </a:solidFill>
              <a:latin typeface="黑体" panose="02010609060101010101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9857231" y="4078224"/>
            <a:ext cx="1609344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060" b="0">
                <a:solidFill>
                  <a:srgbClr val="141A1F"/>
                </a:solidFill>
                <a:latin typeface="宋体" panose="02010600030101010101" pitchFamily="2" charset="-122"/>
              </a:rPr>
              <a:t>放大肿瘤内 T 细胞</a:t>
            </a:r>
            <a:endParaRPr sz="1060" b="0">
              <a:solidFill>
                <a:srgbClr val="141A1F"/>
              </a:solidFill>
              <a:latin typeface="宋体" panose="02010600030101010101" pitchFamily="2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965960" y="5349240"/>
            <a:ext cx="8138160" cy="32004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800" b="1">
                <a:solidFill>
                  <a:srgbClr val="12293A"/>
                </a:solidFill>
                <a:latin typeface="黑体" panose="02010609060101010101" charset="-122"/>
              </a:rPr>
              <a:t>变化主线：从“打击肿瘤”走向“利用人体系统对抗肿瘤”。</a:t>
            </a:r>
            <a:endParaRPr sz="1800" b="1">
              <a:solidFill>
                <a:srgbClr val="12293A"/>
              </a:solidFill>
              <a:latin typeface="黑体" panose="02010609060101010101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347472"/>
            <a:ext cx="1463040" cy="22860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1100" b="1">
                <a:solidFill>
                  <a:srgbClr val="1C908B"/>
                </a:solidFill>
                <a:latin typeface="黑体" panose="02010609060101010101" charset="-122"/>
              </a:rPr>
              <a:t>框架</a:t>
            </a:r>
            <a:endParaRPr sz="1100" b="1">
              <a:solidFill>
                <a:srgbClr val="1C908B"/>
              </a:solidFill>
              <a:latin typeface="黑体" panose="02010609060101010101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0352" y="658368"/>
            <a:ext cx="8412480" cy="53035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2550" b="1">
                <a:solidFill>
                  <a:srgbClr val="12293A"/>
                </a:solidFill>
                <a:latin typeface="黑体" panose="02010609060101010101" charset="-122"/>
              </a:rPr>
              <a:t>三条路线：解除刹车、改造细胞、放大反应</a:t>
            </a:r>
            <a:endParaRPr sz="2550" b="1">
              <a:solidFill>
                <a:srgbClr val="12293A"/>
              </a:solidFill>
              <a:latin typeface="黑体" panose="02010609060101010101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66928" y="1298448"/>
            <a:ext cx="10927080" cy="530352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444752"/>
            <a:ext cx="10424160" cy="25603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1420" b="1">
                <a:solidFill>
                  <a:srgbClr val="12293A"/>
                </a:solidFill>
                <a:latin typeface="黑体" panose="02010609060101010101" charset="-122"/>
              </a:rPr>
              <a:t>三类技术代表三种调动免疫系统的方法。</a:t>
            </a:r>
            <a:endParaRPr sz="1420" b="1">
              <a:solidFill>
                <a:srgbClr val="12293A"/>
              </a:solidFill>
              <a:latin typeface="黑体" panose="02010609060101010101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6419088"/>
            <a:ext cx="548640" cy="201168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820" b="1">
                <a:solidFill>
                  <a:srgbClr val="586874"/>
                </a:solidFill>
                <a:latin typeface="黑体" panose="02010609060101010101" charset="-122"/>
              </a:rPr>
              <a:t>05/15</a:t>
            </a:r>
            <a:endParaRPr sz="820" b="1">
              <a:solidFill>
                <a:srgbClr val="586874"/>
              </a:solidFill>
              <a:latin typeface="黑体" panose="02010609060101010101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68680" y="2331720"/>
            <a:ext cx="2971800" cy="237744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88719" y="2697480"/>
            <a:ext cx="2331720" cy="530352"/>
          </a:xfrm>
          <a:prstGeom prst="round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2834640"/>
            <a:ext cx="1965960" cy="201168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650" b="1">
                <a:solidFill>
                  <a:srgbClr val="FFFFFF"/>
                </a:solidFill>
                <a:latin typeface="黑体" panose="02010609060101010101" charset="-122"/>
              </a:rPr>
              <a:t>解除刹车</a:t>
            </a:r>
            <a:endParaRPr sz="1650" b="1">
              <a:solidFill>
                <a:srgbClr val="FFFFFF"/>
              </a:solidFill>
              <a:latin typeface="黑体" panose="02010609060101010101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371600" y="3493008"/>
            <a:ext cx="1965960" cy="292608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2200" b="1">
                <a:solidFill>
                  <a:srgbClr val="12293A"/>
                </a:solidFill>
                <a:latin typeface="黑体" panose="02010609060101010101" charset="-122"/>
              </a:rPr>
              <a:t>免疫检查点</a:t>
            </a:r>
            <a:endParaRPr sz="2200" b="1">
              <a:solidFill>
                <a:srgbClr val="12293A"/>
              </a:solidFill>
              <a:latin typeface="黑体" panose="02010609060101010101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280160" y="4133087"/>
            <a:ext cx="214884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340" b="0">
                <a:solidFill>
                  <a:srgbClr val="141A1F"/>
                </a:solidFill>
                <a:latin typeface="宋体" panose="02010600030101010101" pitchFamily="2" charset="-122"/>
              </a:rPr>
              <a:t>让 T 细胞重新攻击</a:t>
            </a:r>
            <a:endParaRPr sz="1340" b="0">
              <a:solidFill>
                <a:srgbClr val="141A1F"/>
              </a:solidFill>
              <a:latin typeface="宋体" panose="02010600030101010101" pitchFamily="2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4572000" y="2331720"/>
            <a:ext cx="2971800" cy="237744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92040" y="2697480"/>
            <a:ext cx="2331720" cy="530352"/>
          </a:xfrm>
          <a:prstGeom prst="roundRect">
            <a:avLst/>
          </a:prstGeom>
          <a:solidFill>
            <a:srgbClr val="1C3848"/>
          </a:solidFill>
          <a:ln w="12700">
            <a:solidFill>
              <a:srgbClr val="1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4920" y="2834640"/>
            <a:ext cx="1965960" cy="201168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650" b="1">
                <a:solidFill>
                  <a:srgbClr val="FFFFFF"/>
                </a:solidFill>
                <a:latin typeface="黑体" panose="02010609060101010101" charset="-122"/>
              </a:rPr>
              <a:t>改造细胞</a:t>
            </a:r>
            <a:endParaRPr sz="1650" b="1">
              <a:solidFill>
                <a:srgbClr val="FFFFFF"/>
              </a:solidFill>
              <a:latin typeface="黑体" panose="02010609060101010101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074920" y="3493008"/>
            <a:ext cx="1965960" cy="292608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2200" b="1">
                <a:solidFill>
                  <a:srgbClr val="12293A"/>
                </a:solidFill>
                <a:latin typeface="黑体" panose="02010609060101010101" charset="-122"/>
              </a:rPr>
              <a:t>CAR-T</a:t>
            </a:r>
            <a:endParaRPr sz="2200" b="1">
              <a:solidFill>
                <a:srgbClr val="12293A"/>
              </a:solidFill>
              <a:latin typeface="黑体" panose="02010609060101010101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983480" y="4133087"/>
            <a:ext cx="214884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340" b="0">
                <a:solidFill>
                  <a:srgbClr val="141A1F"/>
                </a:solidFill>
                <a:latin typeface="宋体" panose="02010600030101010101" pitchFamily="2" charset="-122"/>
              </a:rPr>
              <a:t>给 T 细胞新识别能力</a:t>
            </a:r>
            <a:endParaRPr sz="1340" b="0">
              <a:solidFill>
                <a:srgbClr val="141A1F"/>
              </a:solidFill>
              <a:latin typeface="宋体" panose="02010600030101010101" pitchFamily="2" charset="-122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8275319" y="2331720"/>
            <a:ext cx="2971800" cy="237744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595359" y="2697480"/>
            <a:ext cx="2331720" cy="530352"/>
          </a:xfrm>
          <a:prstGeom prst="roundRect">
            <a:avLst/>
          </a:prstGeom>
          <a:solidFill>
            <a:srgbClr val="C04A43"/>
          </a:solidFill>
          <a:ln w="12700">
            <a:solidFill>
              <a:srgbClr val="C04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0" y="2834640"/>
            <a:ext cx="1965960" cy="201168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650" b="1">
                <a:solidFill>
                  <a:srgbClr val="FFFFFF"/>
                </a:solidFill>
                <a:latin typeface="黑体" panose="02010609060101010101" charset="-122"/>
              </a:rPr>
              <a:t>放大反应</a:t>
            </a:r>
            <a:endParaRPr sz="1650" b="1">
              <a:solidFill>
                <a:srgbClr val="FFFFFF"/>
              </a:solidFill>
              <a:latin typeface="黑体" panose="02010609060101010101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778240" y="3493008"/>
            <a:ext cx="1965960" cy="292608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2200" b="1">
                <a:solidFill>
                  <a:srgbClr val="12293A"/>
                </a:solidFill>
                <a:latin typeface="黑体" panose="02010609060101010101" charset="-122"/>
              </a:rPr>
              <a:t>TIL</a:t>
            </a:r>
            <a:endParaRPr sz="2200" b="1">
              <a:solidFill>
                <a:srgbClr val="12293A"/>
              </a:solidFill>
              <a:latin typeface="黑体" panose="02010609060101010101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686799" y="4133087"/>
            <a:ext cx="214884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340" b="0">
                <a:solidFill>
                  <a:srgbClr val="141A1F"/>
                </a:solidFill>
                <a:latin typeface="宋体" panose="02010600030101010101" pitchFamily="2" charset="-122"/>
              </a:rPr>
              <a:t>扩增已有抗肿瘤反应</a:t>
            </a:r>
            <a:endParaRPr sz="1340" b="0">
              <a:solidFill>
                <a:srgbClr val="141A1F"/>
              </a:solidFill>
              <a:latin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347472"/>
            <a:ext cx="1463040" cy="22860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1100" b="1">
                <a:solidFill>
                  <a:srgbClr val="1C908B"/>
                </a:solidFill>
                <a:latin typeface="黑体" panose="02010609060101010101" charset="-122"/>
              </a:rPr>
              <a:t>技术一</a:t>
            </a:r>
            <a:endParaRPr sz="1100" b="1">
              <a:solidFill>
                <a:srgbClr val="1C908B"/>
              </a:solidFill>
              <a:latin typeface="黑体" panose="02010609060101010101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0352" y="658368"/>
            <a:ext cx="8412480" cy="53035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2550" b="1">
                <a:solidFill>
                  <a:srgbClr val="12293A"/>
                </a:solidFill>
                <a:latin typeface="黑体" panose="02010609060101010101" charset="-122"/>
              </a:rPr>
              <a:t>检查点抑制剂：不是直接杀癌，而是解除免疫刹车</a:t>
            </a:r>
            <a:endParaRPr sz="2550" b="1">
              <a:solidFill>
                <a:srgbClr val="12293A"/>
              </a:solidFill>
              <a:latin typeface="黑体" panose="02010609060101010101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66928" y="1298448"/>
            <a:ext cx="10927080" cy="530352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444752"/>
            <a:ext cx="10424160" cy="25603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1420" b="1">
                <a:solidFill>
                  <a:srgbClr val="12293A"/>
                </a:solidFill>
                <a:latin typeface="黑体" panose="02010609060101010101" charset="-122"/>
              </a:rPr>
              <a:t>治疗目标从杀死癌细胞，转向解除免疫抑制。</a:t>
            </a:r>
            <a:endParaRPr sz="1420" b="1">
              <a:solidFill>
                <a:srgbClr val="12293A"/>
              </a:solidFill>
              <a:latin typeface="黑体" panose="02010609060101010101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6419088"/>
            <a:ext cx="548640" cy="201168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820" b="1">
                <a:solidFill>
                  <a:srgbClr val="586874"/>
                </a:solidFill>
                <a:latin typeface="黑体" panose="02010609060101010101" charset="-122"/>
              </a:rPr>
              <a:t>06/15</a:t>
            </a:r>
            <a:endParaRPr sz="820" b="1">
              <a:solidFill>
                <a:srgbClr val="586874"/>
              </a:solidFill>
              <a:latin typeface="黑体" panose="02010609060101010101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731520" y="2011680"/>
            <a:ext cx="5486400" cy="379476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图2_免疫检查点示意图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125" y="2424683"/>
            <a:ext cx="5029200" cy="28498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601968" y="2148840"/>
            <a:ext cx="4023360" cy="73152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59" y="2276856"/>
            <a:ext cx="3694176" cy="201168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1320" b="1">
                <a:solidFill>
                  <a:srgbClr val="1C908B"/>
                </a:solidFill>
                <a:latin typeface="黑体" panose="02010609060101010101" charset="-122"/>
              </a:rPr>
              <a:t>关键词</a:t>
            </a:r>
            <a:endParaRPr sz="1320" b="1">
              <a:solidFill>
                <a:srgbClr val="1C908B"/>
              </a:solidFill>
              <a:latin typeface="黑体" panose="02010609060101010101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766559" y="2606040"/>
            <a:ext cx="3694176" cy="18288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1200" b="0">
                <a:solidFill>
                  <a:srgbClr val="141A1F"/>
                </a:solidFill>
                <a:latin typeface="宋体" panose="02010600030101010101" pitchFamily="2" charset="-122"/>
              </a:rPr>
              <a:t>CTLA-4 / PD-1 / PD-L1</a:t>
            </a:r>
            <a:endParaRPr sz="1200" b="0">
              <a:solidFill>
                <a:srgbClr val="141A1F"/>
              </a:solidFill>
              <a:latin typeface="宋体" panose="02010600030101010101" pitchFamily="2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601968" y="3108960"/>
            <a:ext cx="4023360" cy="82296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59" y="3236976"/>
            <a:ext cx="3694176" cy="201168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1320" b="1">
                <a:solidFill>
                  <a:srgbClr val="E59E3A"/>
                </a:solidFill>
                <a:latin typeface="黑体" panose="02010609060101010101" charset="-122"/>
              </a:rPr>
              <a:t>历史节点</a:t>
            </a:r>
            <a:endParaRPr sz="1320" b="1">
              <a:solidFill>
                <a:srgbClr val="E59E3A"/>
              </a:solidFill>
              <a:latin typeface="黑体" panose="02010609060101010101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766559" y="3566160"/>
            <a:ext cx="3694176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1200" b="0">
                <a:solidFill>
                  <a:srgbClr val="141A1F"/>
                </a:solidFill>
                <a:latin typeface="宋体" panose="02010600030101010101" pitchFamily="2" charset="-122"/>
              </a:rPr>
              <a:t>2018 年诺奖：抑制免疫负调节治疗癌症。</a:t>
            </a:r>
            <a:endParaRPr sz="1200" b="0">
              <a:solidFill>
                <a:srgbClr val="141A1F"/>
              </a:solidFill>
              <a:latin typeface="宋体" panose="02010600030101010101" pitchFamily="2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6601968" y="4187952"/>
            <a:ext cx="4023360" cy="82296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59" y="4315968"/>
            <a:ext cx="3694176" cy="201168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1320" b="1">
                <a:solidFill>
                  <a:srgbClr val="C04A43"/>
                </a:solidFill>
                <a:latin typeface="黑体" panose="02010609060101010101" charset="-122"/>
              </a:rPr>
              <a:t>实例证据</a:t>
            </a:r>
            <a:endParaRPr sz="1320" b="1">
              <a:solidFill>
                <a:srgbClr val="C04A43"/>
              </a:solidFill>
              <a:latin typeface="黑体" panose="02010609060101010101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766559" y="4645152"/>
            <a:ext cx="3694176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1200" b="0">
                <a:solidFill>
                  <a:srgbClr val="141A1F"/>
                </a:solidFill>
                <a:latin typeface="宋体" panose="02010600030101010101" pitchFamily="2" charset="-122"/>
              </a:rPr>
              <a:t>Pembrolizumab 用于 TMB-H 实体瘤，ORR 29%。</a:t>
            </a:r>
            <a:endParaRPr sz="1200" b="0">
              <a:solidFill>
                <a:srgbClr val="141A1F"/>
              </a:solidFill>
              <a:latin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347472"/>
            <a:ext cx="1463040" cy="22860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1100" b="1">
                <a:solidFill>
                  <a:srgbClr val="1C908B"/>
                </a:solidFill>
                <a:latin typeface="黑体" panose="02010609060101010101" charset="-122"/>
              </a:rPr>
              <a:t>技术二</a:t>
            </a:r>
            <a:endParaRPr sz="1100" b="1">
              <a:solidFill>
                <a:srgbClr val="1C908B"/>
              </a:solidFill>
              <a:latin typeface="黑体" panose="02010609060101010101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0352" y="658368"/>
            <a:ext cx="8412480" cy="53035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2550" b="1">
                <a:solidFill>
                  <a:srgbClr val="12293A"/>
                </a:solidFill>
                <a:latin typeface="黑体" panose="02010609060101010101" charset="-122"/>
              </a:rPr>
              <a:t>CAR-T：把患者 T 细胞改造成“活的药物”</a:t>
            </a:r>
            <a:endParaRPr sz="2550" b="1">
              <a:solidFill>
                <a:srgbClr val="12293A"/>
              </a:solidFill>
              <a:latin typeface="黑体" panose="02010609060101010101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66928" y="1298448"/>
            <a:ext cx="10927080" cy="530352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444752"/>
            <a:ext cx="10424160" cy="25603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1420" b="1">
                <a:solidFill>
                  <a:srgbClr val="12293A"/>
                </a:solidFill>
                <a:latin typeface="黑体" panose="02010609060101010101" charset="-122"/>
              </a:rPr>
              <a:t>患者细胞本身成为治疗材料，药物形态从分子扩展到活细胞。</a:t>
            </a:r>
            <a:endParaRPr sz="1420" b="1">
              <a:solidFill>
                <a:srgbClr val="12293A"/>
              </a:solidFill>
              <a:latin typeface="黑体" panose="02010609060101010101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6419088"/>
            <a:ext cx="548640" cy="201168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820" b="1">
                <a:solidFill>
                  <a:srgbClr val="586874"/>
                </a:solidFill>
                <a:latin typeface="黑体" panose="02010609060101010101" charset="-122"/>
              </a:rPr>
              <a:t>07/15</a:t>
            </a:r>
            <a:endParaRPr sz="820" b="1">
              <a:solidFill>
                <a:srgbClr val="586874"/>
              </a:solidFill>
              <a:latin typeface="黑体" panose="02010609060101010101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713232" y="2011680"/>
            <a:ext cx="10789920" cy="3639312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60120" y="2743200"/>
            <a:ext cx="1444752" cy="1115568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63040" y="2450592"/>
            <a:ext cx="438912" cy="438912"/>
          </a:xfrm>
          <a:prstGeom prst="ellipse">
            <a:avLst/>
          </a:prstGeom>
          <a:solidFill>
            <a:srgbClr val="1C908B"/>
          </a:solidFill>
          <a:ln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63040" y="2523744"/>
            <a:ext cx="438912" cy="18288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180" b="1">
                <a:solidFill>
                  <a:srgbClr val="FFFFFF"/>
                </a:solidFill>
                <a:latin typeface="黑体" panose="02010609060101010101" charset="-122"/>
              </a:rPr>
              <a:t>1</a:t>
            </a:r>
            <a:endParaRPr sz="1180" b="1">
              <a:solidFill>
                <a:srgbClr val="FFFFFF"/>
              </a:solidFill>
              <a:latin typeface="黑体" panose="02010609060101010101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69848" y="2962656"/>
            <a:ext cx="1225296" cy="21945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300" b="1">
                <a:solidFill>
                  <a:srgbClr val="12293A"/>
                </a:solidFill>
                <a:latin typeface="黑体" panose="02010609060101010101" charset="-122"/>
              </a:rPr>
              <a:t>采集</a:t>
            </a:r>
            <a:endParaRPr sz="1300" b="1">
              <a:solidFill>
                <a:srgbClr val="12293A"/>
              </a:solidFill>
              <a:latin typeface="黑体" panose="02010609060101010101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069848" y="3273552"/>
            <a:ext cx="1225296" cy="31089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050" b="0">
                <a:solidFill>
                  <a:srgbClr val="586874"/>
                </a:solidFill>
                <a:latin typeface="宋体" panose="02010600030101010101" pitchFamily="2" charset="-122"/>
              </a:rPr>
              <a:t>分离 T 细胞</a:t>
            </a:r>
            <a:endParaRPr sz="1050" b="0">
              <a:solidFill>
                <a:srgbClr val="586874"/>
              </a:solidFill>
              <a:latin typeface="宋体" panose="02010600030101010101" pitchFamily="2" charset="-122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2441448" y="3154680"/>
            <a:ext cx="228600" cy="201168"/>
          </a:xfrm>
          <a:prstGeom prst="rightArrow">
            <a:avLst/>
          </a:prstGeom>
          <a:solidFill>
            <a:srgbClr val="586874"/>
          </a:solidFill>
          <a:ln>
            <a:solidFill>
              <a:srgbClr val="5868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715768" y="2743200"/>
            <a:ext cx="1444752" cy="1115568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218688" y="2450592"/>
            <a:ext cx="438912" cy="438912"/>
          </a:xfrm>
          <a:prstGeom prst="ellipse">
            <a:avLst/>
          </a:prstGeom>
          <a:solidFill>
            <a:srgbClr val="1C908B"/>
          </a:solidFill>
          <a:ln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18688" y="2523744"/>
            <a:ext cx="438912" cy="18288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180" b="1">
                <a:solidFill>
                  <a:srgbClr val="FFFFFF"/>
                </a:solidFill>
                <a:latin typeface="黑体" panose="02010609060101010101" charset="-122"/>
              </a:rPr>
              <a:t>2</a:t>
            </a:r>
            <a:endParaRPr sz="1180" b="1">
              <a:solidFill>
                <a:srgbClr val="FFFFFF"/>
              </a:solidFill>
              <a:latin typeface="黑体" panose="02010609060101010101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825496" y="2962656"/>
            <a:ext cx="1225296" cy="21945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300" b="1">
                <a:solidFill>
                  <a:srgbClr val="12293A"/>
                </a:solidFill>
                <a:latin typeface="黑体" panose="02010609060101010101" charset="-122"/>
              </a:rPr>
              <a:t>工程化</a:t>
            </a:r>
            <a:endParaRPr sz="1300" b="1">
              <a:solidFill>
                <a:srgbClr val="12293A"/>
              </a:solidFill>
              <a:latin typeface="黑体" panose="02010609060101010101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825496" y="3273552"/>
            <a:ext cx="1225296" cy="31089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050" b="0">
                <a:solidFill>
                  <a:srgbClr val="586874"/>
                </a:solidFill>
                <a:latin typeface="宋体" panose="02010600030101010101" pitchFamily="2" charset="-122"/>
              </a:rPr>
              <a:t>加入 CAR 结构</a:t>
            </a:r>
            <a:endParaRPr sz="1050" b="0">
              <a:solidFill>
                <a:srgbClr val="586874"/>
              </a:solidFill>
              <a:latin typeface="宋体" panose="02010600030101010101" pitchFamily="2" charset="-122"/>
            </a:endParaRPr>
          </a:p>
        </p:txBody>
      </p:sp>
      <p:sp>
        <p:nvSpPr>
          <p:cNvPr id="22" name="Right Arrow 21"/>
          <p:cNvSpPr/>
          <p:nvPr/>
        </p:nvSpPr>
        <p:spPr>
          <a:xfrm>
            <a:off x="4197096" y="3154680"/>
            <a:ext cx="228600" cy="201168"/>
          </a:xfrm>
          <a:prstGeom prst="rightArrow">
            <a:avLst/>
          </a:prstGeom>
          <a:solidFill>
            <a:srgbClr val="586874"/>
          </a:solidFill>
          <a:ln>
            <a:solidFill>
              <a:srgbClr val="5868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471416" y="2743200"/>
            <a:ext cx="1444752" cy="1115568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974336" y="2450592"/>
            <a:ext cx="438912" cy="438912"/>
          </a:xfrm>
          <a:prstGeom prst="ellipse">
            <a:avLst/>
          </a:prstGeom>
          <a:solidFill>
            <a:srgbClr val="1C908B"/>
          </a:solidFill>
          <a:ln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74336" y="2523744"/>
            <a:ext cx="438912" cy="18288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180" b="1">
                <a:solidFill>
                  <a:srgbClr val="FFFFFF"/>
                </a:solidFill>
                <a:latin typeface="黑体" panose="02010609060101010101" charset="-122"/>
              </a:rPr>
              <a:t>3</a:t>
            </a:r>
            <a:endParaRPr sz="1180" b="1">
              <a:solidFill>
                <a:srgbClr val="FFFFFF"/>
              </a:solidFill>
              <a:latin typeface="黑体" panose="02010609060101010101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581144" y="2962656"/>
            <a:ext cx="1225296" cy="21945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300" b="1">
                <a:solidFill>
                  <a:srgbClr val="12293A"/>
                </a:solidFill>
                <a:latin typeface="黑体" panose="02010609060101010101" charset="-122"/>
              </a:rPr>
              <a:t>扩增</a:t>
            </a:r>
            <a:endParaRPr sz="1300" b="1">
              <a:solidFill>
                <a:srgbClr val="12293A"/>
              </a:solidFill>
              <a:latin typeface="黑体" panose="02010609060101010101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4581144" y="3273552"/>
            <a:ext cx="1225296" cy="31089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050" b="0">
                <a:solidFill>
                  <a:srgbClr val="586874"/>
                </a:solidFill>
                <a:latin typeface="宋体" panose="02010600030101010101" pitchFamily="2" charset="-122"/>
              </a:rPr>
              <a:t>体外扩增</a:t>
            </a:r>
            <a:endParaRPr sz="1050" b="0">
              <a:solidFill>
                <a:srgbClr val="586874"/>
              </a:solidFill>
              <a:latin typeface="宋体" panose="02010600030101010101" pitchFamily="2" charset="-122"/>
            </a:endParaRPr>
          </a:p>
        </p:txBody>
      </p:sp>
      <p:sp>
        <p:nvSpPr>
          <p:cNvPr id="28" name="Right Arrow 27"/>
          <p:cNvSpPr/>
          <p:nvPr/>
        </p:nvSpPr>
        <p:spPr>
          <a:xfrm>
            <a:off x="5952744" y="3154680"/>
            <a:ext cx="228600" cy="201168"/>
          </a:xfrm>
          <a:prstGeom prst="rightArrow">
            <a:avLst/>
          </a:prstGeom>
          <a:solidFill>
            <a:srgbClr val="586874"/>
          </a:solidFill>
          <a:ln>
            <a:solidFill>
              <a:srgbClr val="5868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27064" y="2743200"/>
            <a:ext cx="1444752" cy="1115568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729984" y="2450592"/>
            <a:ext cx="438912" cy="438912"/>
          </a:xfrm>
          <a:prstGeom prst="ellipse">
            <a:avLst/>
          </a:prstGeom>
          <a:solidFill>
            <a:srgbClr val="1C908B"/>
          </a:solidFill>
          <a:ln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29984" y="2523744"/>
            <a:ext cx="438912" cy="18288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180" b="1">
                <a:solidFill>
                  <a:srgbClr val="FFFFFF"/>
                </a:solidFill>
                <a:latin typeface="黑体" panose="02010609060101010101" charset="-122"/>
              </a:rPr>
              <a:t>4</a:t>
            </a:r>
            <a:endParaRPr sz="1180" b="1">
              <a:solidFill>
                <a:srgbClr val="FFFFFF"/>
              </a:solidFill>
              <a:latin typeface="黑体" panose="02010609060101010101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6336792" y="2962656"/>
            <a:ext cx="1225296" cy="21945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300" b="1">
                <a:solidFill>
                  <a:srgbClr val="12293A"/>
                </a:solidFill>
                <a:latin typeface="黑体" panose="02010609060101010101" charset="-122"/>
              </a:rPr>
              <a:t>预处理</a:t>
            </a:r>
            <a:endParaRPr sz="1300" b="1">
              <a:solidFill>
                <a:srgbClr val="12293A"/>
              </a:solidFill>
              <a:latin typeface="黑体" panose="02010609060101010101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6336792" y="3273552"/>
            <a:ext cx="1225296" cy="31089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050" b="0">
                <a:solidFill>
                  <a:srgbClr val="586874"/>
                </a:solidFill>
                <a:latin typeface="宋体" panose="02010600030101010101" pitchFamily="2" charset="-122"/>
              </a:rPr>
              <a:t>淋巴清除</a:t>
            </a:r>
            <a:endParaRPr sz="1050" b="0">
              <a:solidFill>
                <a:srgbClr val="586874"/>
              </a:solidFill>
              <a:latin typeface="宋体" panose="02010600030101010101" pitchFamily="2" charset="-122"/>
            </a:endParaRPr>
          </a:p>
        </p:txBody>
      </p:sp>
      <p:sp>
        <p:nvSpPr>
          <p:cNvPr id="34" name="Right Arrow 33"/>
          <p:cNvSpPr/>
          <p:nvPr/>
        </p:nvSpPr>
        <p:spPr>
          <a:xfrm>
            <a:off x="7708392" y="3154680"/>
            <a:ext cx="228600" cy="201168"/>
          </a:xfrm>
          <a:prstGeom prst="rightArrow">
            <a:avLst/>
          </a:prstGeom>
          <a:solidFill>
            <a:srgbClr val="586874"/>
          </a:solidFill>
          <a:ln>
            <a:solidFill>
              <a:srgbClr val="5868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982712" y="2743200"/>
            <a:ext cx="1444752" cy="1115568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485632" y="2450592"/>
            <a:ext cx="438912" cy="438912"/>
          </a:xfrm>
          <a:prstGeom prst="ellipse">
            <a:avLst/>
          </a:prstGeom>
          <a:solidFill>
            <a:srgbClr val="1C908B"/>
          </a:solidFill>
          <a:ln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85632" y="2523744"/>
            <a:ext cx="438912" cy="18288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180" b="1">
                <a:solidFill>
                  <a:srgbClr val="FFFFFF"/>
                </a:solidFill>
                <a:latin typeface="黑体" panose="02010609060101010101" charset="-122"/>
              </a:rPr>
              <a:t>5</a:t>
            </a:r>
            <a:endParaRPr sz="1180" b="1">
              <a:solidFill>
                <a:srgbClr val="FFFFFF"/>
              </a:solidFill>
              <a:latin typeface="黑体" panose="02010609060101010101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8092440" y="2962656"/>
            <a:ext cx="1225296" cy="21945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300" b="1">
                <a:solidFill>
                  <a:srgbClr val="12293A"/>
                </a:solidFill>
                <a:latin typeface="黑体" panose="02010609060101010101" charset="-122"/>
              </a:rPr>
              <a:t>回输</a:t>
            </a:r>
            <a:endParaRPr sz="1300" b="1">
              <a:solidFill>
                <a:srgbClr val="12293A"/>
              </a:solidFill>
              <a:latin typeface="黑体" panose="02010609060101010101" charset="-122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8092440" y="3273552"/>
            <a:ext cx="1225296" cy="31089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050" b="0">
                <a:solidFill>
                  <a:srgbClr val="586874"/>
                </a:solidFill>
                <a:latin typeface="宋体" panose="02010600030101010101" pitchFamily="2" charset="-122"/>
              </a:rPr>
              <a:t>回输体内</a:t>
            </a:r>
            <a:endParaRPr sz="1050" b="0">
              <a:solidFill>
                <a:srgbClr val="586874"/>
              </a:solidFill>
              <a:latin typeface="宋体" panose="02010600030101010101" pitchFamily="2" charset="-122"/>
            </a:endParaRPr>
          </a:p>
        </p:txBody>
      </p:sp>
      <p:sp>
        <p:nvSpPr>
          <p:cNvPr id="40" name="Right Arrow 39"/>
          <p:cNvSpPr/>
          <p:nvPr/>
        </p:nvSpPr>
        <p:spPr>
          <a:xfrm>
            <a:off x="9464040" y="3154680"/>
            <a:ext cx="228600" cy="201168"/>
          </a:xfrm>
          <a:prstGeom prst="rightArrow">
            <a:avLst/>
          </a:prstGeom>
          <a:solidFill>
            <a:srgbClr val="586874"/>
          </a:solidFill>
          <a:ln>
            <a:solidFill>
              <a:srgbClr val="5868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9738360" y="2743200"/>
            <a:ext cx="1444752" cy="1115568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0241280" y="2450592"/>
            <a:ext cx="438912" cy="438912"/>
          </a:xfrm>
          <a:prstGeom prst="ellipse">
            <a:avLst/>
          </a:prstGeom>
          <a:solidFill>
            <a:srgbClr val="1C908B"/>
          </a:solidFill>
          <a:ln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241280" y="2523744"/>
            <a:ext cx="438912" cy="18288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180" b="1">
                <a:solidFill>
                  <a:srgbClr val="FFFFFF"/>
                </a:solidFill>
                <a:latin typeface="黑体" panose="02010609060101010101" charset="-122"/>
              </a:rPr>
              <a:t>6</a:t>
            </a:r>
            <a:endParaRPr sz="1180" b="1">
              <a:solidFill>
                <a:srgbClr val="FFFFFF"/>
              </a:solidFill>
              <a:latin typeface="黑体" panose="02010609060101010101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9848088" y="2962656"/>
            <a:ext cx="1225296" cy="21945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300" b="1">
                <a:solidFill>
                  <a:srgbClr val="12293A"/>
                </a:solidFill>
                <a:latin typeface="黑体" panose="02010609060101010101" charset="-122"/>
              </a:rPr>
              <a:t>监测</a:t>
            </a:r>
            <a:endParaRPr sz="1300" b="1">
              <a:solidFill>
                <a:srgbClr val="12293A"/>
              </a:solidFill>
              <a:latin typeface="黑体" panose="02010609060101010101" charset="-12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9848088" y="3273552"/>
            <a:ext cx="1225296" cy="31089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050" b="0">
                <a:solidFill>
                  <a:srgbClr val="586874"/>
                </a:solidFill>
                <a:latin typeface="宋体" panose="02010600030101010101" pitchFamily="2" charset="-122"/>
              </a:rPr>
              <a:t>CRS / ICANS</a:t>
            </a:r>
            <a:endParaRPr sz="1050" b="0">
              <a:solidFill>
                <a:srgbClr val="586874"/>
              </a:solidFill>
              <a:latin typeface="宋体" panose="02010600030101010101" pitchFamily="2" charset="-122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2788920" y="4480560"/>
            <a:ext cx="6537960" cy="749808"/>
          </a:xfrm>
          <a:prstGeom prst="roundRect">
            <a:avLst/>
          </a:prstGeom>
          <a:solidFill>
            <a:srgbClr val="12293A"/>
          </a:solidFill>
          <a:ln w="12700">
            <a:solidFill>
              <a:srgbClr val="1229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017520" y="4681728"/>
            <a:ext cx="6080760" cy="21945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320" b="1">
                <a:solidFill>
                  <a:srgbClr val="FFFFFF"/>
                </a:solidFill>
                <a:latin typeface="黑体" panose="02010609060101010101" charset="-122"/>
              </a:rPr>
              <a:t>关键点：不是把药片送进身体，而是把能识别肿瘤的免疫细胞送回身体。</a:t>
            </a:r>
            <a:endParaRPr sz="1320" b="1">
              <a:solidFill>
                <a:srgbClr val="FFFFFF"/>
              </a:solidFill>
              <a:latin typeface="黑体" panose="02010609060101010101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347472"/>
            <a:ext cx="1463040" cy="22860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1100" b="1">
                <a:solidFill>
                  <a:srgbClr val="1C908B"/>
                </a:solidFill>
                <a:latin typeface="黑体" panose="02010609060101010101" charset="-122"/>
              </a:rPr>
              <a:t>CAR-T 证据</a:t>
            </a:r>
            <a:endParaRPr sz="1100" b="1">
              <a:solidFill>
                <a:srgbClr val="1C908B"/>
              </a:solidFill>
              <a:latin typeface="黑体" panose="02010609060101010101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0352" y="658368"/>
            <a:ext cx="8412480" cy="53035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2550" b="1">
                <a:solidFill>
                  <a:srgbClr val="12293A"/>
                </a:solidFill>
                <a:latin typeface="黑体" panose="02010609060101010101" charset="-122"/>
              </a:rPr>
              <a:t>CAR-T 证据与风险：有效，但要求高</a:t>
            </a:r>
            <a:endParaRPr sz="2550" b="1">
              <a:solidFill>
                <a:srgbClr val="12293A"/>
              </a:solidFill>
              <a:latin typeface="黑体" panose="02010609060101010101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66928" y="1298448"/>
            <a:ext cx="10927080" cy="530352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444752"/>
            <a:ext cx="10424160" cy="25603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1420" b="1">
                <a:solidFill>
                  <a:srgbClr val="12293A"/>
                </a:solidFill>
                <a:latin typeface="黑体" panose="02010609060101010101" charset="-122"/>
              </a:rPr>
              <a:t>CAR-T 是高反应、高管理要求的治疗。</a:t>
            </a:r>
            <a:endParaRPr sz="1420" b="1">
              <a:solidFill>
                <a:srgbClr val="12293A"/>
              </a:solidFill>
              <a:latin typeface="黑体" panose="02010609060101010101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6419088"/>
            <a:ext cx="548640" cy="201168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820" b="1">
                <a:solidFill>
                  <a:srgbClr val="586874"/>
                </a:solidFill>
                <a:latin typeface="黑体" panose="02010609060101010101" charset="-122"/>
              </a:rPr>
              <a:t>08/15</a:t>
            </a:r>
            <a:endParaRPr sz="820" b="1">
              <a:solidFill>
                <a:srgbClr val="586874"/>
              </a:solidFill>
              <a:latin typeface="黑体" panose="02010609060101010101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749808" y="2240280"/>
            <a:ext cx="3063240" cy="306324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24127" y="2560320"/>
            <a:ext cx="2514600" cy="530352"/>
          </a:xfrm>
          <a:prstGeom prst="round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07007" y="2706624"/>
            <a:ext cx="2148840" cy="18288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黑体" panose="02010609060101010101" charset="-122"/>
              </a:rPr>
              <a:t>疗效</a:t>
            </a:r>
            <a:endParaRPr sz="1700" b="1">
              <a:solidFill>
                <a:srgbClr val="FFFFFF"/>
              </a:solidFill>
              <a:latin typeface="黑体" panose="02010609060101010101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60704" y="3401568"/>
            <a:ext cx="2542032" cy="118872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20" b="0">
                <a:solidFill>
                  <a:srgbClr val="141A1F"/>
                </a:solidFill>
                <a:latin typeface="宋体" panose="02010600030101010101" pitchFamily="2" charset="-122"/>
              </a:rPr>
              <a:t>• Kymriah：B-ALL，3 个月总体缓解率 83%</a:t>
            </a:r>
            <a:endParaRPr sz="1320" b="0">
              <a:solidFill>
                <a:srgbClr val="141A1F"/>
              </a:solidFill>
              <a:latin typeface="宋体" panose="02010600030101010101" pitchFamily="2" charset="-122"/>
            </a:endParaRP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20" b="0">
                <a:solidFill>
                  <a:srgbClr val="141A1F"/>
                </a:solidFill>
                <a:latin typeface="宋体" panose="02010600030101010101" pitchFamily="2" charset="-122"/>
              </a:rPr>
              <a:t>• Aucatzyl：B-ALL，3 个月内 CR 42%</a:t>
            </a:r>
            <a:endParaRPr sz="1320" b="0">
              <a:solidFill>
                <a:srgbClr val="141A1F"/>
              </a:solidFill>
              <a:latin typeface="宋体" panose="02010600030101010101" pitchFamily="2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480560" y="2240280"/>
            <a:ext cx="3063240" cy="306324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54880" y="2560320"/>
            <a:ext cx="2514600" cy="530352"/>
          </a:xfrm>
          <a:prstGeom prst="roundRect">
            <a:avLst/>
          </a:prstGeom>
          <a:solidFill>
            <a:srgbClr val="C04A43"/>
          </a:solidFill>
          <a:ln w="12700">
            <a:solidFill>
              <a:srgbClr val="C04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37760" y="2706624"/>
            <a:ext cx="2148840" cy="18288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黑体" panose="02010609060101010101" charset="-122"/>
              </a:rPr>
              <a:t>风险</a:t>
            </a:r>
            <a:endParaRPr sz="1700" b="1">
              <a:solidFill>
                <a:srgbClr val="FFFFFF"/>
              </a:solidFill>
              <a:latin typeface="黑体" panose="02010609060101010101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791456" y="3401568"/>
            <a:ext cx="2542032" cy="118872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20" b="0">
                <a:solidFill>
                  <a:srgbClr val="141A1F"/>
                </a:solidFill>
                <a:latin typeface="宋体" panose="02010600030101010101" pitchFamily="2" charset="-122"/>
              </a:rPr>
              <a:t>• CRS、ICANS 需要规范处理</a:t>
            </a:r>
            <a:endParaRPr sz="1320" b="0">
              <a:solidFill>
                <a:srgbClr val="141A1F"/>
              </a:solidFill>
              <a:latin typeface="宋体" panose="02010600030101010101" pitchFamily="2" charset="-122"/>
            </a:endParaRP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20" b="0">
                <a:solidFill>
                  <a:srgbClr val="141A1F"/>
                </a:solidFill>
                <a:latin typeface="宋体" panose="02010600030101010101" pitchFamily="2" charset="-122"/>
              </a:rPr>
              <a:t>• Aucatzyl：CRS 75%，ICANS 24%</a:t>
            </a:r>
            <a:endParaRPr sz="1320" b="0">
              <a:solidFill>
                <a:srgbClr val="141A1F"/>
              </a:solidFill>
              <a:latin typeface="宋体" panose="02010600030101010101" pitchFamily="2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211312" y="2240280"/>
            <a:ext cx="3063240" cy="306324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485632" y="2560320"/>
            <a:ext cx="2514600" cy="530352"/>
          </a:xfrm>
          <a:prstGeom prst="roundRect">
            <a:avLst/>
          </a:prstGeom>
          <a:solidFill>
            <a:srgbClr val="E59E3A"/>
          </a:solidFill>
          <a:ln w="12700">
            <a:solidFill>
              <a:srgbClr val="E59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68512" y="2706624"/>
            <a:ext cx="2148840" cy="18288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黑体" panose="02010609060101010101" charset="-122"/>
              </a:rPr>
              <a:t>条件</a:t>
            </a:r>
            <a:endParaRPr sz="1700" b="1">
              <a:solidFill>
                <a:srgbClr val="FFFFFF"/>
              </a:solidFill>
              <a:latin typeface="黑体" panose="02010609060101010101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522208" y="3401568"/>
            <a:ext cx="2542032" cy="118872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20" b="0">
                <a:solidFill>
                  <a:srgbClr val="141A1F"/>
                </a:solidFill>
                <a:latin typeface="宋体" panose="02010600030101010101" pitchFamily="2" charset="-122"/>
              </a:rPr>
              <a:t>• 个体化制造与等待周期</a:t>
            </a:r>
            <a:endParaRPr sz="1320" b="0">
              <a:solidFill>
                <a:srgbClr val="141A1F"/>
              </a:solidFill>
              <a:latin typeface="宋体" panose="02010600030101010101" pitchFamily="2" charset="-122"/>
            </a:endParaRP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20" b="0">
                <a:solidFill>
                  <a:srgbClr val="141A1F"/>
                </a:solidFill>
                <a:latin typeface="宋体" panose="02010600030101010101" pitchFamily="2" charset="-122"/>
              </a:rPr>
              <a:t>• 需要具备毒性处理能力的治疗中心</a:t>
            </a:r>
            <a:endParaRPr sz="1320" b="0">
              <a:solidFill>
                <a:srgbClr val="141A1F"/>
              </a:solidFill>
              <a:latin typeface="宋体" panose="02010600030101010101" pitchFamily="2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783080" y="5669280"/>
            <a:ext cx="859536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700" b="1">
                <a:solidFill>
                  <a:srgbClr val="12293A"/>
                </a:solidFill>
                <a:latin typeface="黑体" panose="02010609060101010101" charset="-122"/>
              </a:rPr>
              <a:t>判断方式：疗效数字不能脱离风险和治疗条件。</a:t>
            </a:r>
            <a:endParaRPr sz="1700" b="1">
              <a:solidFill>
                <a:srgbClr val="12293A"/>
              </a:solidFill>
              <a:latin typeface="黑体" panose="02010609060101010101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347472"/>
            <a:ext cx="1463040" cy="22860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1100" b="1">
                <a:solidFill>
                  <a:srgbClr val="1C908B"/>
                </a:solidFill>
                <a:latin typeface="黑体" panose="02010609060101010101" charset="-122"/>
              </a:rPr>
              <a:t>技术三</a:t>
            </a:r>
            <a:endParaRPr sz="1100" b="1">
              <a:solidFill>
                <a:srgbClr val="1C908B"/>
              </a:solidFill>
              <a:latin typeface="黑体" panose="02010609060101010101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0352" y="658368"/>
            <a:ext cx="8412480" cy="53035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2550" b="1">
                <a:solidFill>
                  <a:srgbClr val="12293A"/>
                </a:solidFill>
                <a:latin typeface="黑体" panose="02010609060101010101" charset="-122"/>
              </a:rPr>
              <a:t>TIL：放大患者体内已经存在的抗肿瘤反应</a:t>
            </a:r>
            <a:endParaRPr sz="2550" b="1">
              <a:solidFill>
                <a:srgbClr val="12293A"/>
              </a:solidFill>
              <a:latin typeface="黑体" panose="02010609060101010101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66928" y="1298448"/>
            <a:ext cx="10927080" cy="530352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444752"/>
            <a:ext cx="10424160" cy="25603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1420" b="1">
                <a:solidFill>
                  <a:srgbClr val="12293A"/>
                </a:solidFill>
                <a:latin typeface="黑体" panose="02010609060101010101" charset="-122"/>
              </a:rPr>
              <a:t>TIL 把患者已有免疫反应筛出并放大，实体瘤意义明确但边界仍在。</a:t>
            </a:r>
            <a:endParaRPr sz="1420" b="1">
              <a:solidFill>
                <a:srgbClr val="12293A"/>
              </a:solidFill>
              <a:latin typeface="黑体" panose="02010609060101010101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6419088"/>
            <a:ext cx="548640" cy="201168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820" b="1">
                <a:solidFill>
                  <a:srgbClr val="586874"/>
                </a:solidFill>
                <a:latin typeface="黑体" panose="02010609060101010101" charset="-122"/>
              </a:rPr>
              <a:t>09/15</a:t>
            </a:r>
            <a:endParaRPr sz="820" b="1">
              <a:solidFill>
                <a:srgbClr val="586874"/>
              </a:solidFill>
              <a:latin typeface="黑体" panose="02010609060101010101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04672" y="2011680"/>
            <a:ext cx="4617720" cy="3913632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NCI_TIL_therapy_infographic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85316" y="2212848"/>
            <a:ext cx="3456432" cy="3456432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897880" y="2240280"/>
            <a:ext cx="4480560" cy="749808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62472" y="2368296"/>
            <a:ext cx="4151376" cy="201168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1320" b="1">
                <a:solidFill>
                  <a:srgbClr val="1C908B"/>
                </a:solidFill>
                <a:latin typeface="黑体" panose="02010609060101010101" charset="-122"/>
              </a:rPr>
              <a:t>机制</a:t>
            </a:r>
            <a:endParaRPr sz="1320" b="1">
              <a:solidFill>
                <a:srgbClr val="1C908B"/>
              </a:solidFill>
              <a:latin typeface="黑体" panose="02010609060101010101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62472" y="2697480"/>
            <a:ext cx="4151376" cy="201167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1200" b="0">
                <a:solidFill>
                  <a:srgbClr val="141A1F"/>
                </a:solidFill>
                <a:latin typeface="宋体" panose="02010600030101010101" pitchFamily="2" charset="-122"/>
              </a:rPr>
              <a:t>从肿瘤组织分离 T 细胞，体外扩增后回输。</a:t>
            </a:r>
            <a:endParaRPr sz="1200" b="0">
              <a:solidFill>
                <a:srgbClr val="141A1F"/>
              </a:solidFill>
              <a:latin typeface="宋体" panose="02010600030101010101" pitchFamily="2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5897880" y="3246120"/>
            <a:ext cx="4480560" cy="749808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62472" y="3374136"/>
            <a:ext cx="4151376" cy="201168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1320" b="1">
                <a:solidFill>
                  <a:srgbClr val="C04A43"/>
                </a:solidFill>
                <a:latin typeface="黑体" panose="02010609060101010101" charset="-122"/>
              </a:rPr>
              <a:t>实例</a:t>
            </a:r>
            <a:endParaRPr sz="1320" b="1">
              <a:solidFill>
                <a:srgbClr val="C04A43"/>
              </a:solidFill>
              <a:latin typeface="黑体" panose="02010609060101010101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062472" y="3703320"/>
            <a:ext cx="4151376" cy="201167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1200" b="0">
                <a:solidFill>
                  <a:srgbClr val="141A1F"/>
                </a:solidFill>
                <a:latin typeface="宋体" panose="02010600030101010101" pitchFamily="2" charset="-122"/>
              </a:rPr>
              <a:t>Amtagvi 推荐剂量患者 ORR 31.5%。</a:t>
            </a:r>
            <a:endParaRPr sz="1200" b="0">
              <a:solidFill>
                <a:srgbClr val="141A1F"/>
              </a:solidFill>
              <a:latin typeface="宋体" panose="02010600030101010101" pitchFamily="2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5897880" y="4251960"/>
            <a:ext cx="4480560" cy="749808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62472" y="4379976"/>
            <a:ext cx="4151376" cy="201168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1320" b="1">
                <a:solidFill>
                  <a:srgbClr val="E59E3A"/>
                </a:solidFill>
                <a:latin typeface="黑体" panose="02010609060101010101" charset="-122"/>
              </a:rPr>
              <a:t>边界</a:t>
            </a:r>
            <a:endParaRPr sz="1320" b="1">
              <a:solidFill>
                <a:srgbClr val="E59E3A"/>
              </a:solidFill>
              <a:latin typeface="黑体" panose="02010609060101010101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062472" y="4709160"/>
            <a:ext cx="4151376" cy="201167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1200" b="0">
                <a:solidFill>
                  <a:srgbClr val="141A1F"/>
                </a:solidFill>
                <a:latin typeface="宋体" panose="02010600030101010101" pitchFamily="2" charset="-122"/>
              </a:rPr>
              <a:t>加速批准仍需确认性试验验证临床获益。</a:t>
            </a:r>
            <a:endParaRPr sz="1200" b="0">
              <a:solidFill>
                <a:srgbClr val="141A1F"/>
              </a:solidFill>
              <a:latin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347472"/>
            <a:ext cx="1463040" cy="22860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1100" b="1">
                <a:solidFill>
                  <a:srgbClr val="1C908B"/>
                </a:solidFill>
                <a:latin typeface="黑体" panose="02010609060101010101" charset="-122"/>
              </a:rPr>
              <a:t>证据</a:t>
            </a:r>
            <a:endParaRPr sz="1100" b="1">
              <a:solidFill>
                <a:srgbClr val="1C908B"/>
              </a:solidFill>
              <a:latin typeface="黑体" panose="02010609060101010101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0352" y="658368"/>
            <a:ext cx="8412480" cy="53035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2550" b="1">
                <a:solidFill>
                  <a:srgbClr val="12293A"/>
                </a:solidFill>
                <a:latin typeface="黑体" panose="02010609060101010101" charset="-122"/>
              </a:rPr>
              <a:t>证据不能直接横比</a:t>
            </a:r>
            <a:endParaRPr sz="2550" b="1">
              <a:solidFill>
                <a:srgbClr val="12293A"/>
              </a:solidFill>
              <a:latin typeface="黑体" panose="02010609060101010101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66928" y="1298448"/>
            <a:ext cx="10927080" cy="530352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444752"/>
            <a:ext cx="10424160" cy="25603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1420" b="1">
                <a:solidFill>
                  <a:srgbClr val="12293A"/>
                </a:solidFill>
                <a:latin typeface="黑体" panose="02010609060101010101" charset="-122"/>
              </a:rPr>
              <a:t>不同病种、终点、患者条件不同，不能用一个数字排名疗法。</a:t>
            </a:r>
            <a:endParaRPr sz="1420" b="1">
              <a:solidFill>
                <a:srgbClr val="12293A"/>
              </a:solidFill>
              <a:latin typeface="黑体" panose="02010609060101010101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6419088"/>
            <a:ext cx="548640" cy="201168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820" b="1">
                <a:solidFill>
                  <a:srgbClr val="586874"/>
                </a:solidFill>
                <a:latin typeface="黑体" panose="02010609060101010101" charset="-122"/>
              </a:rPr>
              <a:t>10/15</a:t>
            </a:r>
            <a:endParaRPr sz="820" b="1">
              <a:solidFill>
                <a:srgbClr val="586874"/>
              </a:solidFill>
              <a:latin typeface="黑体" panose="02010609060101010101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02920" y="2148840"/>
            <a:ext cx="914400" cy="475488"/>
          </a:xfrm>
          <a:prstGeom prst="rect">
            <a:avLst/>
          </a:prstGeom>
          <a:solidFill>
            <a:srgbClr val="12293A"/>
          </a:solidFill>
          <a:ln w="12700">
            <a:solidFill>
              <a:srgbClr val="1229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276856"/>
            <a:ext cx="822960" cy="16459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980" b="1">
                <a:solidFill>
                  <a:srgbClr val="FFFFFF"/>
                </a:solidFill>
                <a:latin typeface="黑体" panose="02010609060101010101" charset="-122"/>
              </a:rPr>
              <a:t>技术</a:t>
            </a:r>
            <a:endParaRPr sz="980" b="1">
              <a:solidFill>
                <a:srgbClr val="FFFFFF"/>
              </a:solidFill>
              <a:latin typeface="黑体" panose="02010609060101010101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417320" y="2148840"/>
            <a:ext cx="1600200" cy="475488"/>
          </a:xfrm>
          <a:prstGeom prst="rect">
            <a:avLst/>
          </a:prstGeom>
          <a:solidFill>
            <a:srgbClr val="12293A"/>
          </a:solidFill>
          <a:ln w="12700">
            <a:solidFill>
              <a:srgbClr val="1229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63040" y="2276856"/>
            <a:ext cx="1508760" cy="16459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980" b="1">
                <a:solidFill>
                  <a:srgbClr val="FFFFFF"/>
                </a:solidFill>
                <a:latin typeface="黑体" panose="02010609060101010101" charset="-122"/>
              </a:rPr>
              <a:t>代表</a:t>
            </a:r>
            <a:endParaRPr sz="980" b="1">
              <a:solidFill>
                <a:srgbClr val="FFFFFF"/>
              </a:solidFill>
              <a:latin typeface="黑体" panose="02010609060101010101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017520" y="2148840"/>
            <a:ext cx="1965960" cy="475488"/>
          </a:xfrm>
          <a:prstGeom prst="rect">
            <a:avLst/>
          </a:prstGeom>
          <a:solidFill>
            <a:srgbClr val="12293A"/>
          </a:solidFill>
          <a:ln w="12700">
            <a:solidFill>
              <a:srgbClr val="1229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63239" y="2276856"/>
            <a:ext cx="1874519" cy="16459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980" b="1">
                <a:solidFill>
                  <a:srgbClr val="FFFFFF"/>
                </a:solidFill>
                <a:latin typeface="黑体" panose="02010609060101010101" charset="-122"/>
              </a:rPr>
              <a:t>适用疾病</a:t>
            </a:r>
            <a:endParaRPr sz="980" b="1">
              <a:solidFill>
                <a:srgbClr val="FFFFFF"/>
              </a:solidFill>
              <a:latin typeface="黑体" panose="02010609060101010101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4983480" y="2148840"/>
            <a:ext cx="1417320" cy="475488"/>
          </a:xfrm>
          <a:prstGeom prst="rect">
            <a:avLst/>
          </a:prstGeom>
          <a:solidFill>
            <a:srgbClr val="12293A"/>
          </a:solidFill>
          <a:ln w="12700">
            <a:solidFill>
              <a:srgbClr val="1229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0" y="2276856"/>
            <a:ext cx="1325880" cy="16459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980" b="1">
                <a:solidFill>
                  <a:srgbClr val="FFFFFF"/>
                </a:solidFill>
                <a:latin typeface="黑体" panose="02010609060101010101" charset="-122"/>
              </a:rPr>
              <a:t>关键指标</a:t>
            </a:r>
            <a:endParaRPr sz="980" b="1">
              <a:solidFill>
                <a:srgbClr val="FFFFFF"/>
              </a:solidFill>
              <a:latin typeface="黑体" panose="02010609060101010101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400800" y="2148840"/>
            <a:ext cx="1828800" cy="475488"/>
          </a:xfrm>
          <a:prstGeom prst="rect">
            <a:avLst/>
          </a:prstGeom>
          <a:solidFill>
            <a:srgbClr val="12293A"/>
          </a:solidFill>
          <a:ln w="12700">
            <a:solidFill>
              <a:srgbClr val="1229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2276856"/>
            <a:ext cx="1737360" cy="16459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980" b="1">
                <a:solidFill>
                  <a:srgbClr val="FFFFFF"/>
                </a:solidFill>
                <a:latin typeface="黑体" panose="02010609060101010101" charset="-122"/>
              </a:rPr>
              <a:t>主要风险</a:t>
            </a:r>
            <a:endParaRPr sz="980" b="1">
              <a:solidFill>
                <a:srgbClr val="FFFFFF"/>
              </a:solidFill>
              <a:latin typeface="黑体" panose="02010609060101010101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8229600" y="2148840"/>
            <a:ext cx="1965960" cy="475488"/>
          </a:xfrm>
          <a:prstGeom prst="rect">
            <a:avLst/>
          </a:prstGeom>
          <a:solidFill>
            <a:srgbClr val="12293A"/>
          </a:solidFill>
          <a:ln w="12700">
            <a:solidFill>
              <a:srgbClr val="1229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20" y="2276856"/>
            <a:ext cx="1874519" cy="16459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980" b="1">
                <a:solidFill>
                  <a:srgbClr val="FFFFFF"/>
                </a:solidFill>
                <a:latin typeface="黑体" panose="02010609060101010101" charset="-122"/>
              </a:rPr>
              <a:t>不能横比原因</a:t>
            </a:r>
            <a:endParaRPr sz="980" b="1">
              <a:solidFill>
                <a:srgbClr val="FFFFFF"/>
              </a:solidFill>
              <a:latin typeface="黑体" panose="02010609060101010101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502920" y="2624328"/>
            <a:ext cx="914400" cy="475488"/>
          </a:xfrm>
          <a:prstGeom prst="rect">
            <a:avLst/>
          </a:prstGeom>
          <a:solidFill>
            <a:srgbClr val="F6FAFB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7784" y="2743200"/>
            <a:ext cx="804672" cy="16459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840" b="0">
                <a:solidFill>
                  <a:srgbClr val="141A1F"/>
                </a:solidFill>
                <a:latin typeface="宋体" panose="02010600030101010101" pitchFamily="2" charset="-122"/>
              </a:rPr>
              <a:t>检查点</a:t>
            </a:r>
            <a:endParaRPr sz="840" b="0">
              <a:solidFill>
                <a:srgbClr val="141A1F"/>
              </a:solidFill>
              <a:latin typeface="宋体" panose="02010600030101010101" pitchFamily="2" charset="-122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1417320" y="2624328"/>
            <a:ext cx="1600200" cy="475488"/>
          </a:xfrm>
          <a:prstGeom prst="rect">
            <a:avLst/>
          </a:prstGeom>
          <a:solidFill>
            <a:srgbClr val="F6FAFB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72184" y="2743200"/>
            <a:ext cx="1490472" cy="16459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840" b="0">
                <a:solidFill>
                  <a:srgbClr val="141A1F"/>
                </a:solidFill>
                <a:latin typeface="宋体" panose="02010600030101010101" pitchFamily="2" charset="-122"/>
              </a:rPr>
              <a:t>Pembrolizumab</a:t>
            </a:r>
            <a:endParaRPr sz="840" b="0">
              <a:solidFill>
                <a:srgbClr val="141A1F"/>
              </a:solidFill>
              <a:latin typeface="宋体" panose="02010600030101010101" pitchFamily="2" charset="-122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3017520" y="2624328"/>
            <a:ext cx="1965960" cy="475488"/>
          </a:xfrm>
          <a:prstGeom prst="rect">
            <a:avLst/>
          </a:prstGeom>
          <a:solidFill>
            <a:srgbClr val="F6FAFB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72384" y="2743200"/>
            <a:ext cx="1856231" cy="16459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840" b="0">
                <a:solidFill>
                  <a:srgbClr val="141A1F"/>
                </a:solidFill>
                <a:latin typeface="宋体" panose="02010600030101010101" pitchFamily="2" charset="-122"/>
              </a:rPr>
              <a:t>TMB-H 实体瘤</a:t>
            </a:r>
            <a:endParaRPr sz="840" b="0">
              <a:solidFill>
                <a:srgbClr val="141A1F"/>
              </a:solidFill>
              <a:latin typeface="宋体" panose="02010600030101010101" pitchFamily="2" charset="-122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4983480" y="2624328"/>
            <a:ext cx="1417320" cy="475488"/>
          </a:xfrm>
          <a:prstGeom prst="rect">
            <a:avLst/>
          </a:prstGeom>
          <a:solidFill>
            <a:srgbClr val="F6FAFB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38344" y="2743200"/>
            <a:ext cx="1307592" cy="16459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840" b="0">
                <a:solidFill>
                  <a:srgbClr val="141A1F"/>
                </a:solidFill>
                <a:latin typeface="宋体" panose="02010600030101010101" pitchFamily="2" charset="-122"/>
              </a:rPr>
              <a:t>ORR 29%</a:t>
            </a:r>
            <a:endParaRPr sz="840" b="0">
              <a:solidFill>
                <a:srgbClr val="141A1F"/>
              </a:solidFill>
              <a:latin typeface="宋体" panose="02010600030101010101" pitchFamily="2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6400800" y="2624328"/>
            <a:ext cx="1828800" cy="475488"/>
          </a:xfrm>
          <a:prstGeom prst="rect">
            <a:avLst/>
          </a:prstGeom>
          <a:solidFill>
            <a:srgbClr val="F6FAFB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55664" y="2743200"/>
            <a:ext cx="1719072" cy="16459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840" b="0">
                <a:solidFill>
                  <a:srgbClr val="141A1F"/>
                </a:solidFill>
                <a:latin typeface="宋体" panose="02010600030101010101" pitchFamily="2" charset="-122"/>
              </a:rPr>
              <a:t>免疫相关不良反应</a:t>
            </a:r>
            <a:endParaRPr sz="840" b="0">
              <a:solidFill>
                <a:srgbClr val="141A1F"/>
              </a:solidFill>
              <a:latin typeface="宋体" panose="02010600030101010101" pitchFamily="2" charset="-122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8229600" y="2624328"/>
            <a:ext cx="1965960" cy="475488"/>
          </a:xfrm>
          <a:prstGeom prst="rect">
            <a:avLst/>
          </a:prstGeom>
          <a:solidFill>
            <a:srgbClr val="F6FAFB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84464" y="2743200"/>
            <a:ext cx="1856231" cy="16459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840" b="0">
                <a:solidFill>
                  <a:srgbClr val="141A1F"/>
                </a:solidFill>
                <a:latin typeface="宋体" panose="02010600030101010101" pitchFamily="2" charset="-122"/>
              </a:rPr>
              <a:t>分子特征入组</a:t>
            </a:r>
            <a:endParaRPr sz="840" b="0">
              <a:solidFill>
                <a:srgbClr val="141A1F"/>
              </a:solidFill>
              <a:latin typeface="宋体" panose="02010600030101010101" pitchFamily="2" charset="-122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502920" y="3099816"/>
            <a:ext cx="914400" cy="475488"/>
          </a:xfrm>
          <a:prstGeom prst="rect">
            <a:avLst/>
          </a:prstGeom>
          <a:solidFill>
            <a:srgbClr val="EDF5F6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57784" y="3218688"/>
            <a:ext cx="804672" cy="16459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840" b="0">
                <a:solidFill>
                  <a:srgbClr val="141A1F"/>
                </a:solidFill>
                <a:latin typeface="宋体" panose="02010600030101010101" pitchFamily="2" charset="-122"/>
              </a:rPr>
              <a:t>CAR-T</a:t>
            </a:r>
            <a:endParaRPr sz="840" b="0">
              <a:solidFill>
                <a:srgbClr val="141A1F"/>
              </a:solidFill>
              <a:latin typeface="宋体" panose="02010600030101010101" pitchFamily="2" charset="-122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1417320" y="3099816"/>
            <a:ext cx="1600200" cy="475488"/>
          </a:xfrm>
          <a:prstGeom prst="rect">
            <a:avLst/>
          </a:prstGeom>
          <a:solidFill>
            <a:srgbClr val="EDF5F6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72184" y="3218688"/>
            <a:ext cx="1490472" cy="16459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840" b="0">
                <a:solidFill>
                  <a:srgbClr val="141A1F"/>
                </a:solidFill>
                <a:latin typeface="宋体" panose="02010600030101010101" pitchFamily="2" charset="-122"/>
              </a:rPr>
              <a:t>Kymriah</a:t>
            </a:r>
            <a:endParaRPr sz="840" b="0">
              <a:solidFill>
                <a:srgbClr val="141A1F"/>
              </a:solidFill>
              <a:latin typeface="宋体" panose="02010600030101010101" pitchFamily="2" charset="-122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3017520" y="3099816"/>
            <a:ext cx="1965960" cy="475488"/>
          </a:xfrm>
          <a:prstGeom prst="rect">
            <a:avLst/>
          </a:prstGeom>
          <a:solidFill>
            <a:srgbClr val="EDF5F6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072384" y="3218688"/>
            <a:ext cx="1856231" cy="16459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840" b="0">
                <a:solidFill>
                  <a:srgbClr val="141A1F"/>
                </a:solidFill>
                <a:latin typeface="宋体" panose="02010600030101010101" pitchFamily="2" charset="-122"/>
              </a:rPr>
              <a:t>儿童/青年 B-ALL</a:t>
            </a:r>
            <a:endParaRPr sz="840" b="0">
              <a:solidFill>
                <a:srgbClr val="141A1F"/>
              </a:solidFill>
              <a:latin typeface="宋体" panose="02010600030101010101" pitchFamily="2" charset="-122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4983480" y="3099816"/>
            <a:ext cx="1417320" cy="475488"/>
          </a:xfrm>
          <a:prstGeom prst="rect">
            <a:avLst/>
          </a:prstGeom>
          <a:solidFill>
            <a:srgbClr val="EDF5F6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38344" y="3218688"/>
            <a:ext cx="1307592" cy="16459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840" b="0">
                <a:solidFill>
                  <a:srgbClr val="141A1F"/>
                </a:solidFill>
                <a:latin typeface="宋体" panose="02010600030101010101" pitchFamily="2" charset="-122"/>
              </a:rPr>
              <a:t>缓解率 83%</a:t>
            </a:r>
            <a:endParaRPr sz="840" b="0">
              <a:solidFill>
                <a:srgbClr val="141A1F"/>
              </a:solidFill>
              <a:latin typeface="宋体" panose="02010600030101010101" pitchFamily="2" charset="-122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6400800" y="3099816"/>
            <a:ext cx="1828800" cy="475488"/>
          </a:xfrm>
          <a:prstGeom prst="rect">
            <a:avLst/>
          </a:prstGeom>
          <a:solidFill>
            <a:srgbClr val="EDF5F6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55664" y="3218688"/>
            <a:ext cx="1719072" cy="16459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840" b="0">
                <a:solidFill>
                  <a:srgbClr val="141A1F"/>
                </a:solidFill>
                <a:latin typeface="宋体" panose="02010600030101010101" pitchFamily="2" charset="-122"/>
              </a:rPr>
              <a:t>CRS / ICANS</a:t>
            </a:r>
            <a:endParaRPr sz="840" b="0">
              <a:solidFill>
                <a:srgbClr val="141A1F"/>
              </a:solidFill>
              <a:latin typeface="宋体" panose="02010600030101010101" pitchFamily="2" charset="-122"/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8229600" y="3099816"/>
            <a:ext cx="1965960" cy="475488"/>
          </a:xfrm>
          <a:prstGeom prst="rect">
            <a:avLst/>
          </a:prstGeom>
          <a:solidFill>
            <a:srgbClr val="EDF5F6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84464" y="3218688"/>
            <a:ext cx="1856231" cy="16459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840" b="0">
                <a:solidFill>
                  <a:srgbClr val="141A1F"/>
                </a:solidFill>
                <a:latin typeface="宋体" panose="02010600030101010101" pitchFamily="2" charset="-122"/>
              </a:rPr>
              <a:t>血液肿瘤场景</a:t>
            </a:r>
            <a:endParaRPr sz="840" b="0">
              <a:solidFill>
                <a:srgbClr val="141A1F"/>
              </a:solidFill>
              <a:latin typeface="宋体" panose="02010600030101010101" pitchFamily="2" charset="-122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502920" y="3575304"/>
            <a:ext cx="914400" cy="475488"/>
          </a:xfrm>
          <a:prstGeom prst="rect">
            <a:avLst/>
          </a:prstGeom>
          <a:solidFill>
            <a:srgbClr val="F6FAFB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57784" y="3694176"/>
            <a:ext cx="804672" cy="16459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840" b="0">
                <a:solidFill>
                  <a:srgbClr val="141A1F"/>
                </a:solidFill>
                <a:latin typeface="宋体" panose="02010600030101010101" pitchFamily="2" charset="-122"/>
              </a:rPr>
              <a:t>CAR-T</a:t>
            </a:r>
            <a:endParaRPr sz="840" b="0">
              <a:solidFill>
                <a:srgbClr val="141A1F"/>
              </a:solidFill>
              <a:latin typeface="宋体" panose="02010600030101010101" pitchFamily="2" charset="-122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1417320" y="3575304"/>
            <a:ext cx="1600200" cy="475488"/>
          </a:xfrm>
          <a:prstGeom prst="rect">
            <a:avLst/>
          </a:prstGeom>
          <a:solidFill>
            <a:srgbClr val="F6FAFB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472184" y="3694176"/>
            <a:ext cx="1490472" cy="16459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840" b="0">
                <a:solidFill>
                  <a:srgbClr val="141A1F"/>
                </a:solidFill>
                <a:latin typeface="宋体" panose="02010600030101010101" pitchFamily="2" charset="-122"/>
              </a:rPr>
              <a:t>Aucatzyl</a:t>
            </a:r>
            <a:endParaRPr sz="840" b="0">
              <a:solidFill>
                <a:srgbClr val="141A1F"/>
              </a:solidFill>
              <a:latin typeface="宋体" panose="02010600030101010101" pitchFamily="2" charset="-122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3017520" y="3575304"/>
            <a:ext cx="1965960" cy="475488"/>
          </a:xfrm>
          <a:prstGeom prst="rect">
            <a:avLst/>
          </a:prstGeom>
          <a:solidFill>
            <a:srgbClr val="F6FAFB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072384" y="3694176"/>
            <a:ext cx="1856231" cy="16459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840" b="0">
                <a:solidFill>
                  <a:srgbClr val="141A1F"/>
                </a:solidFill>
                <a:latin typeface="宋体" panose="02010600030101010101" pitchFamily="2" charset="-122"/>
              </a:rPr>
              <a:t>成人 B-ALL</a:t>
            </a:r>
            <a:endParaRPr sz="840" b="0">
              <a:solidFill>
                <a:srgbClr val="141A1F"/>
              </a:solidFill>
              <a:latin typeface="宋体" panose="02010600030101010101" pitchFamily="2" charset="-122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4983480" y="3575304"/>
            <a:ext cx="1417320" cy="475488"/>
          </a:xfrm>
          <a:prstGeom prst="rect">
            <a:avLst/>
          </a:prstGeom>
          <a:solidFill>
            <a:srgbClr val="F6FAFB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38344" y="3694176"/>
            <a:ext cx="1307592" cy="16459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840" b="0">
                <a:solidFill>
                  <a:srgbClr val="141A1F"/>
                </a:solidFill>
                <a:latin typeface="宋体" panose="02010600030101010101" pitchFamily="2" charset="-122"/>
              </a:rPr>
              <a:t>CR 42%</a:t>
            </a:r>
            <a:endParaRPr sz="840" b="0">
              <a:solidFill>
                <a:srgbClr val="141A1F"/>
              </a:solidFill>
              <a:latin typeface="宋体" panose="02010600030101010101" pitchFamily="2" charset="-122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6400800" y="3575304"/>
            <a:ext cx="1828800" cy="475488"/>
          </a:xfrm>
          <a:prstGeom prst="rect">
            <a:avLst/>
          </a:prstGeom>
          <a:solidFill>
            <a:srgbClr val="F6FAFB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55664" y="3694176"/>
            <a:ext cx="1719072" cy="16459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840" b="0">
                <a:solidFill>
                  <a:srgbClr val="141A1F"/>
                </a:solidFill>
                <a:latin typeface="宋体" panose="02010600030101010101" pitchFamily="2" charset="-122"/>
              </a:rPr>
              <a:t>CRS 75%</a:t>
            </a:r>
            <a:endParaRPr sz="840" b="0">
              <a:solidFill>
                <a:srgbClr val="141A1F"/>
              </a:solidFill>
              <a:latin typeface="宋体" panose="02010600030101010101" pitchFamily="2" charset="-122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8229600" y="3575304"/>
            <a:ext cx="1965960" cy="475488"/>
          </a:xfrm>
          <a:prstGeom prst="rect">
            <a:avLst/>
          </a:prstGeom>
          <a:solidFill>
            <a:srgbClr val="F6FAFB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84464" y="3694176"/>
            <a:ext cx="1856231" cy="16459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840" b="0">
                <a:solidFill>
                  <a:srgbClr val="141A1F"/>
                </a:solidFill>
                <a:latin typeface="宋体" panose="02010600030101010101" pitchFamily="2" charset="-122"/>
              </a:rPr>
              <a:t>终点为 CR</a:t>
            </a:r>
            <a:endParaRPr sz="840" b="0">
              <a:solidFill>
                <a:srgbClr val="141A1F"/>
              </a:solidFill>
              <a:latin typeface="宋体" panose="02010600030101010101" pitchFamily="2" charset="-122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502920" y="4050791"/>
            <a:ext cx="914400" cy="475488"/>
          </a:xfrm>
          <a:prstGeom prst="rect">
            <a:avLst/>
          </a:prstGeom>
          <a:solidFill>
            <a:srgbClr val="EDF5F6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57784" y="4169663"/>
            <a:ext cx="804672" cy="16459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840" b="0">
                <a:solidFill>
                  <a:srgbClr val="141A1F"/>
                </a:solidFill>
                <a:latin typeface="宋体" panose="02010600030101010101" pitchFamily="2" charset="-122"/>
              </a:rPr>
              <a:t>TIL</a:t>
            </a:r>
            <a:endParaRPr sz="840" b="0">
              <a:solidFill>
                <a:srgbClr val="141A1F"/>
              </a:solidFill>
              <a:latin typeface="宋体" panose="02010600030101010101" pitchFamily="2" charset="-122"/>
            </a:endParaRPr>
          </a:p>
        </p:txBody>
      </p:sp>
      <p:sp>
        <p:nvSpPr>
          <p:cNvPr id="60" name="Rectangle 59"/>
          <p:cNvSpPr/>
          <p:nvPr/>
        </p:nvSpPr>
        <p:spPr>
          <a:xfrm>
            <a:off x="1417320" y="4050791"/>
            <a:ext cx="1600200" cy="475488"/>
          </a:xfrm>
          <a:prstGeom prst="rect">
            <a:avLst/>
          </a:prstGeom>
          <a:solidFill>
            <a:srgbClr val="EDF5F6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472184" y="4169663"/>
            <a:ext cx="1490472" cy="16459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840" b="0">
                <a:solidFill>
                  <a:srgbClr val="141A1F"/>
                </a:solidFill>
                <a:latin typeface="宋体" panose="02010600030101010101" pitchFamily="2" charset="-122"/>
              </a:rPr>
              <a:t>Amtagvi</a:t>
            </a:r>
            <a:endParaRPr sz="840" b="0">
              <a:solidFill>
                <a:srgbClr val="141A1F"/>
              </a:solidFill>
              <a:latin typeface="宋体" panose="02010600030101010101" pitchFamily="2" charset="-122"/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3017520" y="4050791"/>
            <a:ext cx="1965960" cy="475488"/>
          </a:xfrm>
          <a:prstGeom prst="rect">
            <a:avLst/>
          </a:prstGeom>
          <a:solidFill>
            <a:srgbClr val="EDF5F6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72384" y="4169663"/>
            <a:ext cx="1856231" cy="16459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840" b="0">
                <a:solidFill>
                  <a:srgbClr val="141A1F"/>
                </a:solidFill>
                <a:latin typeface="宋体" panose="02010600030101010101" pitchFamily="2" charset="-122"/>
              </a:rPr>
              <a:t>晚期黑色素瘤</a:t>
            </a:r>
            <a:endParaRPr sz="840" b="0">
              <a:solidFill>
                <a:srgbClr val="141A1F"/>
              </a:solidFill>
              <a:latin typeface="宋体" panose="02010600030101010101" pitchFamily="2" charset="-122"/>
            </a:endParaRPr>
          </a:p>
        </p:txBody>
      </p:sp>
      <p:sp>
        <p:nvSpPr>
          <p:cNvPr id="64" name="Rectangle 63"/>
          <p:cNvSpPr/>
          <p:nvPr/>
        </p:nvSpPr>
        <p:spPr>
          <a:xfrm>
            <a:off x="4983480" y="4050791"/>
            <a:ext cx="1417320" cy="475488"/>
          </a:xfrm>
          <a:prstGeom prst="rect">
            <a:avLst/>
          </a:prstGeom>
          <a:solidFill>
            <a:srgbClr val="EDF5F6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038344" y="4169663"/>
            <a:ext cx="1307592" cy="16459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840" b="0">
                <a:solidFill>
                  <a:srgbClr val="141A1F"/>
                </a:solidFill>
                <a:latin typeface="宋体" panose="02010600030101010101" pitchFamily="2" charset="-122"/>
              </a:rPr>
              <a:t>ORR 31.5%</a:t>
            </a:r>
            <a:endParaRPr sz="840" b="0">
              <a:solidFill>
                <a:srgbClr val="141A1F"/>
              </a:solidFill>
              <a:latin typeface="宋体" panose="02010600030101010101" pitchFamily="2" charset="-122"/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6400800" y="4050791"/>
            <a:ext cx="1828800" cy="475488"/>
          </a:xfrm>
          <a:prstGeom prst="rect">
            <a:avLst/>
          </a:prstGeom>
          <a:solidFill>
            <a:srgbClr val="EDF5F6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455664" y="4169663"/>
            <a:ext cx="1719072" cy="16459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840" b="0">
                <a:solidFill>
                  <a:srgbClr val="141A1F"/>
                </a:solidFill>
                <a:latin typeface="宋体" panose="02010600030101010101" pitchFamily="2" charset="-122"/>
              </a:rPr>
              <a:t>治疗相关毒性</a:t>
            </a:r>
            <a:endParaRPr sz="840" b="0">
              <a:solidFill>
                <a:srgbClr val="141A1F"/>
              </a:solidFill>
              <a:latin typeface="宋体" panose="02010600030101010101" pitchFamily="2" charset="-122"/>
            </a:endParaRPr>
          </a:p>
        </p:txBody>
      </p:sp>
      <p:sp>
        <p:nvSpPr>
          <p:cNvPr id="68" name="Rectangle 67"/>
          <p:cNvSpPr/>
          <p:nvPr/>
        </p:nvSpPr>
        <p:spPr>
          <a:xfrm>
            <a:off x="8229600" y="4050791"/>
            <a:ext cx="1965960" cy="475488"/>
          </a:xfrm>
          <a:prstGeom prst="rect">
            <a:avLst/>
          </a:prstGeom>
          <a:solidFill>
            <a:srgbClr val="EDF5F6"/>
          </a:solidFill>
          <a:ln w="12700">
            <a:solidFill>
              <a:srgbClr val="D6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84464" y="4169663"/>
            <a:ext cx="1856231" cy="16459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840" b="0">
                <a:solidFill>
                  <a:srgbClr val="141A1F"/>
                </a:solidFill>
                <a:latin typeface="宋体" panose="02010600030101010101" pitchFamily="2" charset="-122"/>
              </a:rPr>
              <a:t>加速批准人群</a:t>
            </a:r>
            <a:endParaRPr sz="840" b="0">
              <a:solidFill>
                <a:srgbClr val="141A1F"/>
              </a:solidFill>
              <a:latin typeface="宋体" panose="02010600030101010101" pitchFamily="2" charset="-122"/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1417320" y="5102352"/>
            <a:ext cx="9372600" cy="658368"/>
          </a:xfrm>
          <a:prstGeom prst="roundRect">
            <a:avLst/>
          </a:prstGeom>
          <a:solidFill>
            <a:srgbClr val="12293A"/>
          </a:solidFill>
          <a:ln w="12700">
            <a:solidFill>
              <a:srgbClr val="1229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783080" y="5303520"/>
            <a:ext cx="8641080" cy="201168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520" b="1">
                <a:solidFill>
                  <a:srgbClr val="FFFFFF"/>
                </a:solidFill>
                <a:latin typeface="黑体" panose="02010609060101010101" charset="-122"/>
              </a:rPr>
              <a:t>读法：这些数据证明“有真实证据”，不证明“百分比最高的疗法最好”。</a:t>
            </a:r>
            <a:endParaRPr sz="1520" b="1">
              <a:solidFill>
                <a:srgbClr val="FFFFFF"/>
              </a:solidFill>
              <a:latin typeface="黑体" panose="02010609060101010101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347472"/>
            <a:ext cx="1463040" cy="22860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1100" b="1">
                <a:solidFill>
                  <a:srgbClr val="1C908B"/>
                </a:solidFill>
                <a:latin typeface="黑体" panose="02010609060101010101" charset="-122"/>
              </a:rPr>
              <a:t>路径</a:t>
            </a:r>
            <a:endParaRPr sz="1100" b="1">
              <a:solidFill>
                <a:srgbClr val="1C908B"/>
              </a:solidFill>
              <a:latin typeface="黑体" panose="02010609060101010101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0352" y="658368"/>
            <a:ext cx="8412480" cy="53035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2550" b="1">
                <a:solidFill>
                  <a:srgbClr val="12293A"/>
                </a:solidFill>
                <a:latin typeface="黑体" panose="02010609060101010101" charset="-122"/>
              </a:rPr>
              <a:t>从开药到医疗工程</a:t>
            </a:r>
            <a:endParaRPr sz="2550" b="1">
              <a:solidFill>
                <a:srgbClr val="12293A"/>
              </a:solidFill>
              <a:latin typeface="黑体" panose="02010609060101010101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66928" y="1298448"/>
            <a:ext cx="10927080" cy="530352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444752"/>
            <a:ext cx="10424160" cy="25603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1420" b="1">
                <a:solidFill>
                  <a:srgbClr val="12293A"/>
                </a:solidFill>
                <a:latin typeface="黑体" panose="02010609060101010101" charset="-122"/>
              </a:rPr>
              <a:t>细胞治疗依赖完整医疗系统，而不是单一药品。</a:t>
            </a:r>
            <a:endParaRPr sz="1420" b="1">
              <a:solidFill>
                <a:srgbClr val="12293A"/>
              </a:solidFill>
              <a:latin typeface="黑体" panose="02010609060101010101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6419088"/>
            <a:ext cx="548640" cy="201168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820" b="1">
                <a:solidFill>
                  <a:srgbClr val="586874"/>
                </a:solidFill>
                <a:latin typeface="黑体" panose="02010609060101010101" charset="-122"/>
              </a:rPr>
              <a:t>11/15</a:t>
            </a:r>
            <a:endParaRPr sz="820" b="1">
              <a:solidFill>
                <a:srgbClr val="586874"/>
              </a:solidFill>
              <a:latin typeface="黑体" panose="02010609060101010101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594360" y="2834640"/>
            <a:ext cx="1234440" cy="786384"/>
          </a:xfrm>
          <a:prstGeom prst="round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3035808"/>
            <a:ext cx="1078992" cy="25603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黑体" panose="02010609060101010101" charset="-122"/>
              </a:rPr>
              <a:t>患者筛选</a:t>
            </a:r>
            <a:endParaRPr sz="1120" b="1">
              <a:solidFill>
                <a:srgbClr val="FFFFFF"/>
              </a:solidFill>
              <a:latin typeface="黑体" panose="02010609060101010101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819656" y="3054096"/>
            <a:ext cx="36576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800" b="1">
                <a:solidFill>
                  <a:srgbClr val="586874"/>
                </a:solidFill>
                <a:latin typeface="黑体" panose="02010609060101010101" charset="-122"/>
              </a:rPr>
              <a:t>→</a:t>
            </a:r>
            <a:endParaRPr sz="1800" b="1">
              <a:solidFill>
                <a:srgbClr val="586874"/>
              </a:solidFill>
              <a:latin typeface="黑体" panose="02010609060101010101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2203704" y="2834640"/>
            <a:ext cx="1234440" cy="786384"/>
          </a:xfrm>
          <a:prstGeom prst="round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76856" y="3035808"/>
            <a:ext cx="1078992" cy="25603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黑体" panose="02010609060101010101" charset="-122"/>
              </a:rPr>
              <a:t>细胞采集/
组织获取</a:t>
            </a:r>
            <a:endParaRPr sz="1120" b="1">
              <a:solidFill>
                <a:srgbClr val="FFFFFF"/>
              </a:solidFill>
              <a:latin typeface="黑体" panose="02010609060101010101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429000" y="3054096"/>
            <a:ext cx="36576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800" b="1">
                <a:solidFill>
                  <a:srgbClr val="586874"/>
                </a:solidFill>
                <a:latin typeface="黑体" panose="02010609060101010101" charset="-122"/>
              </a:rPr>
              <a:t>→</a:t>
            </a:r>
            <a:endParaRPr sz="1800" b="1">
              <a:solidFill>
                <a:srgbClr val="586874"/>
              </a:solidFill>
              <a:latin typeface="黑体" panose="02010609060101010101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3813048" y="2834640"/>
            <a:ext cx="1234440" cy="786384"/>
          </a:xfrm>
          <a:prstGeom prst="roundRect">
            <a:avLst/>
          </a:prstGeom>
          <a:solidFill>
            <a:srgbClr val="1C3848"/>
          </a:solidFill>
          <a:ln w="12700">
            <a:solidFill>
              <a:srgbClr val="1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86200" y="3035808"/>
            <a:ext cx="1078992" cy="25603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黑体" panose="02010609060101010101" charset="-122"/>
              </a:rPr>
              <a:t>实验室制造</a:t>
            </a:r>
            <a:endParaRPr sz="1120" b="1">
              <a:solidFill>
                <a:srgbClr val="FFFFFF"/>
              </a:solidFill>
              <a:latin typeface="黑体" panose="02010609060101010101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038344" y="3054096"/>
            <a:ext cx="36576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800" b="1">
                <a:solidFill>
                  <a:srgbClr val="586874"/>
                </a:solidFill>
                <a:latin typeface="黑体" panose="02010609060101010101" charset="-122"/>
              </a:rPr>
              <a:t>→</a:t>
            </a:r>
            <a:endParaRPr sz="1800" b="1">
              <a:solidFill>
                <a:srgbClr val="586874"/>
              </a:solidFill>
              <a:latin typeface="黑体" panose="02010609060101010101" charset="-122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5422392" y="2834640"/>
            <a:ext cx="1234440" cy="786384"/>
          </a:xfrm>
          <a:prstGeom prst="roundRect">
            <a:avLst/>
          </a:prstGeom>
          <a:solidFill>
            <a:srgbClr val="1C3848"/>
          </a:solidFill>
          <a:ln w="12700">
            <a:solidFill>
              <a:srgbClr val="1C3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95544" y="3035808"/>
            <a:ext cx="1078992" cy="25603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黑体" panose="02010609060101010101" charset="-122"/>
              </a:rPr>
              <a:t>质控运输</a:t>
            </a:r>
            <a:endParaRPr sz="1120" b="1">
              <a:solidFill>
                <a:srgbClr val="FFFFFF"/>
              </a:solidFill>
              <a:latin typeface="黑体" panose="02010609060101010101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647688" y="3054096"/>
            <a:ext cx="36576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800" b="1">
                <a:solidFill>
                  <a:srgbClr val="586874"/>
                </a:solidFill>
                <a:latin typeface="黑体" panose="02010609060101010101" charset="-122"/>
              </a:rPr>
              <a:t>→</a:t>
            </a:r>
            <a:endParaRPr sz="1800" b="1">
              <a:solidFill>
                <a:srgbClr val="586874"/>
              </a:solidFill>
              <a:latin typeface="黑体" panose="02010609060101010101" charset="-122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7031736" y="2834640"/>
            <a:ext cx="1234440" cy="786384"/>
          </a:xfrm>
          <a:prstGeom prst="round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04888" y="3035808"/>
            <a:ext cx="1078992" cy="25603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黑体" panose="02010609060101010101" charset="-122"/>
              </a:rPr>
              <a:t>回输</a:t>
            </a:r>
            <a:endParaRPr sz="1120" b="1">
              <a:solidFill>
                <a:srgbClr val="FFFFFF"/>
              </a:solidFill>
              <a:latin typeface="黑体" panose="02010609060101010101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257032" y="3054096"/>
            <a:ext cx="36576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800" b="1">
                <a:solidFill>
                  <a:srgbClr val="586874"/>
                </a:solidFill>
                <a:latin typeface="黑体" panose="02010609060101010101" charset="-122"/>
              </a:rPr>
              <a:t>→</a:t>
            </a:r>
            <a:endParaRPr sz="1800" b="1">
              <a:solidFill>
                <a:srgbClr val="586874"/>
              </a:solidFill>
              <a:latin typeface="黑体" panose="02010609060101010101" charset="-122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8641080" y="2834640"/>
            <a:ext cx="1234440" cy="786384"/>
          </a:xfrm>
          <a:prstGeom prst="roundRect">
            <a:avLst/>
          </a:prstGeom>
          <a:solidFill>
            <a:srgbClr val="C04A43"/>
          </a:solidFill>
          <a:ln w="12700">
            <a:solidFill>
              <a:srgbClr val="C04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14232" y="3035808"/>
            <a:ext cx="1078992" cy="25603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黑体" panose="02010609060101010101" charset="-122"/>
              </a:rPr>
              <a:t>毒性管理</a:t>
            </a:r>
            <a:endParaRPr sz="1120" b="1">
              <a:solidFill>
                <a:srgbClr val="FFFFFF"/>
              </a:solidFill>
              <a:latin typeface="黑体" panose="02010609060101010101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9866376" y="3054096"/>
            <a:ext cx="36576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800" b="1">
                <a:solidFill>
                  <a:srgbClr val="586874"/>
                </a:solidFill>
                <a:latin typeface="黑体" panose="02010609060101010101" charset="-122"/>
              </a:rPr>
              <a:t>→</a:t>
            </a:r>
            <a:endParaRPr sz="1800" b="1">
              <a:solidFill>
                <a:srgbClr val="586874"/>
              </a:solidFill>
              <a:latin typeface="黑体" panose="02010609060101010101" charset="-122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10250424" y="2834640"/>
            <a:ext cx="1234440" cy="786384"/>
          </a:xfrm>
          <a:prstGeom prst="roundRect">
            <a:avLst/>
          </a:prstGeom>
          <a:solidFill>
            <a:srgbClr val="E59E3A"/>
          </a:solidFill>
          <a:ln w="12700">
            <a:solidFill>
              <a:srgbClr val="E59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23576" y="3035808"/>
            <a:ext cx="1078992" cy="25603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黑体" panose="02010609060101010101" charset="-122"/>
              </a:rPr>
              <a:t>长期随访</a:t>
            </a:r>
            <a:endParaRPr sz="1120" b="1">
              <a:solidFill>
                <a:srgbClr val="FFFFFF"/>
              </a:solidFill>
              <a:latin typeface="黑体" panose="02010609060101010101" charset="-122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1078992" y="4626864"/>
            <a:ext cx="9966960" cy="694944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17320" y="4846320"/>
            <a:ext cx="9235440" cy="21031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540" b="1">
                <a:solidFill>
                  <a:srgbClr val="12293A"/>
                </a:solidFill>
                <a:latin typeface="黑体" panose="02010609060101010101" charset="-122"/>
              </a:rPr>
              <a:t>历史变化：治疗不再只是“药物进入身体”，而是临床、制造、监管和随访共同完成。</a:t>
            </a:r>
            <a:endParaRPr sz="1540" b="1">
              <a:solidFill>
                <a:srgbClr val="12293A"/>
              </a:solidFill>
              <a:latin typeface="黑体" panose="02010609060101010101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347472"/>
            <a:ext cx="1463040" cy="22860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1100" b="1">
                <a:solidFill>
                  <a:srgbClr val="1C908B"/>
                </a:solidFill>
                <a:latin typeface="黑体" panose="02010609060101010101" charset="-122"/>
              </a:rPr>
              <a:t>风险</a:t>
            </a:r>
            <a:endParaRPr sz="1100" b="1">
              <a:solidFill>
                <a:srgbClr val="1C908B"/>
              </a:solidFill>
              <a:latin typeface="黑体" panose="02010609060101010101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0352" y="658368"/>
            <a:ext cx="8412480" cy="53035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2550" b="1">
                <a:solidFill>
                  <a:srgbClr val="12293A"/>
                </a:solidFill>
                <a:latin typeface="黑体" panose="02010609060101010101" charset="-122"/>
              </a:rPr>
              <a:t>疗效越强，越需要边界和监管</a:t>
            </a:r>
            <a:endParaRPr sz="2550" b="1">
              <a:solidFill>
                <a:srgbClr val="12293A"/>
              </a:solidFill>
              <a:latin typeface="黑体" panose="02010609060101010101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66928" y="1298448"/>
            <a:ext cx="10927080" cy="530352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444752"/>
            <a:ext cx="10424160" cy="25603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1420" b="1">
                <a:solidFill>
                  <a:srgbClr val="12293A"/>
                </a:solidFill>
                <a:latin typeface="黑体" panose="02010609060101010101" charset="-122"/>
              </a:rPr>
              <a:t>强疗效必须配套适应证、毒性管理和长期监测。</a:t>
            </a:r>
            <a:endParaRPr sz="1420" b="1">
              <a:solidFill>
                <a:srgbClr val="12293A"/>
              </a:solidFill>
              <a:latin typeface="黑体" panose="02010609060101010101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6419088"/>
            <a:ext cx="548640" cy="201168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820" b="1">
                <a:solidFill>
                  <a:srgbClr val="586874"/>
                </a:solidFill>
                <a:latin typeface="黑体" panose="02010609060101010101" charset="-122"/>
              </a:rPr>
              <a:t>12/15</a:t>
            </a:r>
            <a:endParaRPr sz="820" b="1">
              <a:solidFill>
                <a:srgbClr val="586874"/>
              </a:solidFill>
              <a:latin typeface="黑体" panose="02010609060101010101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68680" y="2377440"/>
            <a:ext cx="3017520" cy="246888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97864" y="2697480"/>
            <a:ext cx="2359152" cy="502920"/>
          </a:xfrm>
          <a:prstGeom prst="roundRect">
            <a:avLst/>
          </a:prstGeom>
          <a:solidFill>
            <a:srgbClr val="E59E3A"/>
          </a:solidFill>
          <a:ln w="12700">
            <a:solidFill>
              <a:srgbClr val="E59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2834640"/>
            <a:ext cx="1993392" cy="18288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580" b="1">
                <a:solidFill>
                  <a:srgbClr val="FFFFFF"/>
                </a:solidFill>
                <a:latin typeface="黑体" panose="02010609060101010101" charset="-122"/>
              </a:rPr>
              <a:t>实体瘤难题</a:t>
            </a:r>
            <a:endParaRPr sz="1580" b="1">
              <a:solidFill>
                <a:srgbClr val="FFFFFF"/>
              </a:solidFill>
              <a:latin typeface="黑体" panose="02010609060101010101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216152" y="3474720"/>
            <a:ext cx="2286000" cy="86868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300" b="0">
                <a:solidFill>
                  <a:srgbClr val="141A1F"/>
                </a:solidFill>
                <a:latin typeface="宋体" panose="02010600030101010101" pitchFamily="2" charset="-122"/>
              </a:rPr>
              <a:t>靶抗原
免疫抑制微环境
肿瘤异质性</a:t>
            </a:r>
            <a:endParaRPr sz="1300" b="0">
              <a:solidFill>
                <a:srgbClr val="141A1F"/>
              </a:solidFill>
              <a:latin typeface="宋体" panose="02010600030101010101" pitchFamily="2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572000" y="2377440"/>
            <a:ext cx="3017520" cy="246888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901184" y="2697480"/>
            <a:ext cx="2359152" cy="502920"/>
          </a:xfrm>
          <a:prstGeom prst="roundRect">
            <a:avLst/>
          </a:prstGeom>
          <a:solidFill>
            <a:srgbClr val="C04A43"/>
          </a:solidFill>
          <a:ln w="12700">
            <a:solidFill>
              <a:srgbClr val="C04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74920" y="2834640"/>
            <a:ext cx="1993392" cy="18288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580" b="1">
                <a:solidFill>
                  <a:srgbClr val="FFFFFF"/>
                </a:solidFill>
                <a:latin typeface="黑体" panose="02010609060101010101" charset="-122"/>
              </a:rPr>
              <a:t>急性毒性</a:t>
            </a:r>
            <a:endParaRPr sz="1580" b="1">
              <a:solidFill>
                <a:srgbClr val="FFFFFF"/>
              </a:solidFill>
              <a:latin typeface="黑体" panose="02010609060101010101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919472" y="3474720"/>
            <a:ext cx="2286000" cy="86868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300" b="0">
                <a:solidFill>
                  <a:srgbClr val="141A1F"/>
                </a:solidFill>
                <a:latin typeface="宋体" panose="02010600030101010101" pitchFamily="2" charset="-122"/>
              </a:rPr>
              <a:t>CRS
ICANS
需快速处理</a:t>
            </a:r>
            <a:endParaRPr sz="1300" b="0">
              <a:solidFill>
                <a:srgbClr val="141A1F"/>
              </a:solidFill>
              <a:latin typeface="宋体" panose="02010600030101010101" pitchFamily="2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275319" y="2377440"/>
            <a:ext cx="3017520" cy="246888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604503" y="2697480"/>
            <a:ext cx="2359152" cy="502920"/>
          </a:xfrm>
          <a:prstGeom prst="round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0" y="2834640"/>
            <a:ext cx="1993392" cy="18288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580" b="1">
                <a:solidFill>
                  <a:srgbClr val="FFFFFF"/>
                </a:solidFill>
                <a:latin typeface="黑体" panose="02010609060101010101" charset="-122"/>
              </a:rPr>
              <a:t>长期风险</a:t>
            </a:r>
            <a:endParaRPr sz="1580" b="1">
              <a:solidFill>
                <a:srgbClr val="FFFFFF"/>
              </a:solidFill>
              <a:latin typeface="黑体" panose="02010609060101010101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622792" y="3474720"/>
            <a:ext cx="2286000" cy="86868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300" b="0">
                <a:solidFill>
                  <a:srgbClr val="141A1F"/>
                </a:solidFill>
                <a:latin typeface="宋体" panose="02010600030101010101" pitchFamily="2" charset="-122"/>
              </a:rPr>
              <a:t>继发恶性肿瘤风险
长期监测
风险告知</a:t>
            </a:r>
            <a:endParaRPr sz="1300" b="0">
              <a:solidFill>
                <a:srgbClr val="141A1F"/>
              </a:solidFill>
              <a:latin typeface="宋体" panose="02010600030101010101" pitchFamily="2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2176272" y="5349240"/>
            <a:ext cx="781812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750" b="1">
                <a:solidFill>
                  <a:srgbClr val="12293A"/>
                </a:solidFill>
                <a:latin typeface="黑体" panose="02010609060101010101" charset="-122"/>
              </a:rPr>
              <a:t>态度：不因风险否定技术，也不因疗效忽略风险。</a:t>
            </a:r>
            <a:endParaRPr sz="1750" b="1">
              <a:solidFill>
                <a:srgbClr val="12293A"/>
              </a:solidFill>
              <a:latin typeface="黑体" panose="02010609060101010101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347472"/>
            <a:ext cx="1463040" cy="22860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1100" b="1">
                <a:solidFill>
                  <a:srgbClr val="1C908B"/>
                </a:solidFill>
                <a:latin typeface="黑体" panose="02010609060101010101" charset="-122"/>
              </a:rPr>
              <a:t>伦理</a:t>
            </a:r>
            <a:endParaRPr sz="1100" b="1">
              <a:solidFill>
                <a:srgbClr val="1C908B"/>
              </a:solidFill>
              <a:latin typeface="黑体" panose="02010609060101010101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0352" y="658368"/>
            <a:ext cx="8412480" cy="53035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2550" b="1">
                <a:solidFill>
                  <a:srgbClr val="12293A"/>
                </a:solidFill>
                <a:latin typeface="黑体" panose="02010609060101010101" charset="-122"/>
              </a:rPr>
              <a:t>技术突破不等于公共价值自动实现</a:t>
            </a:r>
            <a:endParaRPr sz="2550" b="1">
              <a:solidFill>
                <a:srgbClr val="12293A"/>
              </a:solidFill>
              <a:latin typeface="黑体" panose="02010609060101010101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66928" y="1298448"/>
            <a:ext cx="10927080" cy="530352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444752"/>
            <a:ext cx="10424160" cy="25603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1420" b="1">
                <a:solidFill>
                  <a:srgbClr val="12293A"/>
                </a:solidFill>
                <a:latin typeface="黑体" panose="02010609060101010101" charset="-122"/>
              </a:rPr>
              <a:t>谁能用、谁承担风险、谁获得收益，决定公共价值。</a:t>
            </a:r>
            <a:endParaRPr sz="1420" b="1">
              <a:solidFill>
                <a:srgbClr val="12293A"/>
              </a:solidFill>
              <a:latin typeface="黑体" panose="02010609060101010101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6419088"/>
            <a:ext cx="548640" cy="201168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820" b="1">
                <a:solidFill>
                  <a:srgbClr val="586874"/>
                </a:solidFill>
                <a:latin typeface="黑体" panose="02010609060101010101" charset="-122"/>
              </a:rPr>
              <a:t>13/15</a:t>
            </a:r>
            <a:endParaRPr sz="820" b="1">
              <a:solidFill>
                <a:srgbClr val="586874"/>
              </a:solidFill>
              <a:latin typeface="黑体" panose="02010609060101010101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960120" y="2176272"/>
            <a:ext cx="4526280" cy="109728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340864"/>
            <a:ext cx="1051560" cy="201168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1550" b="1">
                <a:solidFill>
                  <a:srgbClr val="C04A43"/>
                </a:solidFill>
                <a:latin typeface="黑体" panose="02010609060101010101" charset="-122"/>
              </a:rPr>
              <a:t>高价</a:t>
            </a:r>
            <a:endParaRPr sz="1550" b="1">
              <a:solidFill>
                <a:srgbClr val="C04A43"/>
              </a:solidFill>
              <a:latin typeface="黑体" panose="02010609060101010101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286000" y="2340864"/>
            <a:ext cx="2788920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1220" b="0">
                <a:solidFill>
                  <a:srgbClr val="141A1F"/>
                </a:solidFill>
                <a:latin typeface="宋体" panose="02010600030101010101" pitchFamily="2" charset="-122"/>
              </a:rPr>
              <a:t>$515,000
NCI 报道公司宣布的单次治疗价格</a:t>
            </a:r>
            <a:endParaRPr sz="1220" b="0">
              <a:solidFill>
                <a:srgbClr val="141A1F"/>
              </a:solidFill>
              <a:latin typeface="宋体" panose="02010600030101010101" pitchFamily="2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172200" y="2176272"/>
            <a:ext cx="4526280" cy="109728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340864"/>
            <a:ext cx="1051560" cy="201168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1550" b="1">
                <a:solidFill>
                  <a:srgbClr val="1C908B"/>
                </a:solidFill>
                <a:latin typeface="黑体" panose="02010609060101010101" charset="-122"/>
              </a:rPr>
              <a:t>中心限制</a:t>
            </a:r>
            <a:endParaRPr sz="1550" b="1">
              <a:solidFill>
                <a:srgbClr val="1C908B"/>
              </a:solidFill>
              <a:latin typeface="黑体" panose="02010609060101010101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498079" y="2340864"/>
            <a:ext cx="2788920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1220" b="0">
                <a:solidFill>
                  <a:srgbClr val="141A1F"/>
                </a:solidFill>
                <a:latin typeface="宋体" panose="02010600030101010101" pitchFamily="2" charset="-122"/>
              </a:rPr>
              <a:t>需要规范治疗中心
采集、制造、回输能力</a:t>
            </a:r>
            <a:endParaRPr sz="1220" b="0">
              <a:solidFill>
                <a:srgbClr val="141A1F"/>
              </a:solidFill>
              <a:latin typeface="宋体" panose="02010600030101010101" pitchFamily="2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960120" y="3712463"/>
            <a:ext cx="4526280" cy="109728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3877055"/>
            <a:ext cx="1051560" cy="201168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1550" b="1">
                <a:solidFill>
                  <a:srgbClr val="E59E3A"/>
                </a:solidFill>
                <a:latin typeface="黑体" panose="02010609060101010101" charset="-122"/>
              </a:rPr>
              <a:t>支付与转诊</a:t>
            </a:r>
            <a:endParaRPr sz="1550" b="1">
              <a:solidFill>
                <a:srgbClr val="E59E3A"/>
              </a:solidFill>
              <a:latin typeface="黑体" panose="02010609060101010101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286000" y="3877055"/>
            <a:ext cx="2788920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1220" b="0">
                <a:solidFill>
                  <a:srgbClr val="141A1F"/>
                </a:solidFill>
                <a:latin typeface="宋体" panose="02010600030101010101" pitchFamily="2" charset="-122"/>
              </a:rPr>
              <a:t>保险支付
跨区域转诊
等待周期</a:t>
            </a:r>
            <a:endParaRPr sz="1220" b="0">
              <a:solidFill>
                <a:srgbClr val="141A1F"/>
              </a:solidFill>
              <a:latin typeface="宋体" panose="02010600030101010101" pitchFamily="2" charset="-122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172200" y="3712463"/>
            <a:ext cx="4526280" cy="1097280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C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3877055"/>
            <a:ext cx="1051560" cy="201168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1550" b="1">
                <a:solidFill>
                  <a:srgbClr val="1C3848"/>
                </a:solidFill>
                <a:latin typeface="黑体" panose="02010609060101010101" charset="-122"/>
              </a:rPr>
              <a:t>知情同意</a:t>
            </a:r>
            <a:endParaRPr sz="1550" b="1">
              <a:solidFill>
                <a:srgbClr val="1C3848"/>
              </a:solidFill>
              <a:latin typeface="黑体" panose="02010609060101010101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498079" y="3877055"/>
            <a:ext cx="2788920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1220" b="0">
                <a:solidFill>
                  <a:srgbClr val="141A1F"/>
                </a:solidFill>
                <a:latin typeface="宋体" panose="02010600030101010101" pitchFamily="2" charset="-122"/>
              </a:rPr>
              <a:t>长期风险
替代方案
随访数据公开</a:t>
            </a:r>
            <a:endParaRPr sz="1220" b="0">
              <a:solidFill>
                <a:srgbClr val="141A1F"/>
              </a:solidFill>
              <a:latin typeface="宋体" panose="02010600030101010101" pitchFamily="2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2304288" y="5376672"/>
            <a:ext cx="7543800" cy="31089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900" b="1">
                <a:solidFill>
                  <a:srgbClr val="12293A"/>
                </a:solidFill>
                <a:latin typeface="黑体" panose="02010609060101010101" charset="-122"/>
              </a:rPr>
              <a:t>公共价值 = 临床获益 × 风险透明 × 可及性。</a:t>
            </a:r>
            <a:endParaRPr sz="1900" b="1">
              <a:solidFill>
                <a:srgbClr val="12293A"/>
              </a:solidFill>
              <a:latin typeface="黑体" panose="02010609060101010101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347472"/>
            <a:ext cx="1463040" cy="22860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1100" b="1">
                <a:solidFill>
                  <a:srgbClr val="1C908B"/>
                </a:solidFill>
                <a:latin typeface="黑体" panose="02010609060101010101" charset="-122"/>
              </a:rPr>
              <a:t>未来</a:t>
            </a:r>
            <a:endParaRPr sz="1100" b="1">
              <a:solidFill>
                <a:srgbClr val="1C908B"/>
              </a:solidFill>
              <a:latin typeface="黑体" panose="02010609060101010101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0352" y="658368"/>
            <a:ext cx="8412480" cy="53035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2550" b="1">
                <a:solidFill>
                  <a:srgbClr val="12293A"/>
                </a:solidFill>
                <a:latin typeface="黑体" panose="02010609060101010101" charset="-122"/>
              </a:rPr>
              <a:t>下一步不是更神奇，而是更可控、更公平</a:t>
            </a:r>
            <a:endParaRPr sz="2550" b="1">
              <a:solidFill>
                <a:srgbClr val="12293A"/>
              </a:solidFill>
              <a:latin typeface="黑体" panose="02010609060101010101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66928" y="1298448"/>
            <a:ext cx="10927080" cy="530352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444752"/>
            <a:ext cx="10424160" cy="25603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1420" b="1">
                <a:solidFill>
                  <a:srgbClr val="12293A"/>
                </a:solidFill>
                <a:latin typeface="黑体" panose="02010609060101010101" charset="-122"/>
              </a:rPr>
              <a:t>未来重点是精准筛选、安全管理和可及性改善。</a:t>
            </a:r>
            <a:endParaRPr sz="1420" b="1">
              <a:solidFill>
                <a:srgbClr val="12293A"/>
              </a:solidFill>
              <a:latin typeface="黑体" panose="02010609060101010101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6419088"/>
            <a:ext cx="548640" cy="201168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820" b="1">
                <a:solidFill>
                  <a:srgbClr val="586874"/>
                </a:solidFill>
                <a:latin typeface="黑体" panose="02010609060101010101" charset="-122"/>
              </a:rPr>
              <a:t>14/15</a:t>
            </a:r>
            <a:endParaRPr sz="820" b="1">
              <a:solidFill>
                <a:srgbClr val="586874"/>
              </a:solidFill>
              <a:latin typeface="黑体" panose="02010609060101010101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68680" y="2395728"/>
            <a:ext cx="3017520" cy="2487168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2743200"/>
            <a:ext cx="2011680" cy="34747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2500" b="1">
                <a:solidFill>
                  <a:srgbClr val="12293A"/>
                </a:solidFill>
                <a:latin typeface="黑体" panose="02010609060101010101" charset="-122"/>
              </a:rPr>
              <a:t>更准</a:t>
            </a:r>
            <a:endParaRPr sz="2500" b="1">
              <a:solidFill>
                <a:srgbClr val="12293A"/>
              </a:solidFill>
              <a:latin typeface="黑体" panose="02010609060101010101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371600" y="3493008"/>
            <a:ext cx="2011680" cy="566928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430" b="0">
                <a:solidFill>
                  <a:srgbClr val="141A1F"/>
                </a:solidFill>
                <a:latin typeface="宋体" panose="02010600030101010101" pitchFamily="2" charset="-122"/>
              </a:rPr>
              <a:t>生物标志物筛选患者
减少无效治疗</a:t>
            </a:r>
            <a:endParaRPr sz="1430" b="0">
              <a:solidFill>
                <a:srgbClr val="141A1F"/>
              </a:solidFill>
              <a:latin typeface="宋体" panose="02010600030101010101" pitchFamily="2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572000" y="2395728"/>
            <a:ext cx="3017520" cy="2487168"/>
          </a:xfrm>
          <a:prstGeom prst="roundRect">
            <a:avLst/>
          </a:prstGeom>
          <a:solidFill>
            <a:srgbClr val="FFF0DA"/>
          </a:solidFill>
          <a:ln w="12700">
            <a:solidFill>
              <a:srgbClr val="E59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74920" y="2743200"/>
            <a:ext cx="2011680" cy="34747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2500" b="1">
                <a:solidFill>
                  <a:srgbClr val="12293A"/>
                </a:solidFill>
                <a:latin typeface="黑体" panose="02010609060101010101" charset="-122"/>
              </a:rPr>
              <a:t>更安全</a:t>
            </a:r>
            <a:endParaRPr sz="2500" b="1">
              <a:solidFill>
                <a:srgbClr val="12293A"/>
              </a:solidFill>
              <a:latin typeface="黑体" panose="02010609060101010101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74920" y="3493008"/>
            <a:ext cx="2011680" cy="566928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430" b="0">
                <a:solidFill>
                  <a:srgbClr val="141A1F"/>
                </a:solidFill>
                <a:latin typeface="宋体" panose="02010600030101010101" pitchFamily="2" charset="-122"/>
              </a:rPr>
              <a:t>降低 CRS / ICANS
强化长期登记</a:t>
            </a:r>
            <a:endParaRPr sz="1430" b="0">
              <a:solidFill>
                <a:srgbClr val="141A1F"/>
              </a:solidFill>
              <a:latin typeface="宋体" panose="02010600030101010101" pitchFamily="2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275319" y="2395728"/>
            <a:ext cx="3017520" cy="2487168"/>
          </a:xfrm>
          <a:prstGeom prst="roundRect">
            <a:avLst/>
          </a:prstGeom>
          <a:solidFill>
            <a:srgbClr val="F6E5E3"/>
          </a:solidFill>
          <a:ln w="12700">
            <a:solidFill>
              <a:srgbClr val="C04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78240" y="2743200"/>
            <a:ext cx="2011680" cy="34747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2500" b="1">
                <a:solidFill>
                  <a:srgbClr val="12293A"/>
                </a:solidFill>
                <a:latin typeface="黑体" panose="02010609060101010101" charset="-122"/>
              </a:rPr>
              <a:t>更可及</a:t>
            </a:r>
            <a:endParaRPr sz="2500" b="1">
              <a:solidFill>
                <a:srgbClr val="12293A"/>
              </a:solidFill>
              <a:latin typeface="黑体" panose="02010609060101010101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778240" y="3493008"/>
            <a:ext cx="2011680" cy="566928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430" b="0">
                <a:solidFill>
                  <a:srgbClr val="141A1F"/>
                </a:solidFill>
                <a:latin typeface="宋体" panose="02010600030101010101" pitchFamily="2" charset="-122"/>
              </a:rPr>
              <a:t>缩短制造周期
改善支付和转诊</a:t>
            </a:r>
            <a:endParaRPr sz="1430" b="0">
              <a:solidFill>
                <a:srgbClr val="141A1F"/>
              </a:solidFill>
              <a:latin typeface="宋体" panose="02010600030101010101" pitchFamily="2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691640" y="5413248"/>
            <a:ext cx="891540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720" b="1">
                <a:solidFill>
                  <a:srgbClr val="12293A"/>
                </a:solidFill>
                <a:latin typeface="黑体" panose="02010609060101010101" charset="-122"/>
              </a:rPr>
              <a:t>历史方向：从“能不能做”走向“能否规范、安全、公平地做”。</a:t>
            </a:r>
            <a:endParaRPr sz="1720" b="1">
              <a:solidFill>
                <a:srgbClr val="12293A"/>
              </a:solidFill>
              <a:latin typeface="黑体" panose="02010609060101010101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C908B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347472"/>
            <a:ext cx="1463040" cy="22860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1100" b="1">
                <a:solidFill>
                  <a:srgbClr val="1C908B"/>
                </a:solidFill>
                <a:latin typeface="黑体" panose="02010609060101010101" charset="-122"/>
              </a:rPr>
              <a:t>结论</a:t>
            </a:r>
            <a:endParaRPr sz="1100" b="1">
              <a:solidFill>
                <a:srgbClr val="1C908B"/>
              </a:solidFill>
              <a:latin typeface="黑体" panose="02010609060101010101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0352" y="658368"/>
            <a:ext cx="8412480" cy="53035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2550" b="1">
                <a:solidFill>
                  <a:srgbClr val="12293A"/>
                </a:solidFill>
                <a:latin typeface="黑体" panose="02010609060101010101" charset="-122"/>
              </a:rPr>
              <a:t>支持发展，但不神化</a:t>
            </a:r>
            <a:endParaRPr sz="2550" b="1">
              <a:solidFill>
                <a:srgbClr val="12293A"/>
              </a:solidFill>
              <a:latin typeface="黑体" panose="02010609060101010101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66928" y="1298448"/>
            <a:ext cx="10927080" cy="530352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C6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444752"/>
            <a:ext cx="10424160" cy="25603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1420" b="1">
                <a:solidFill>
                  <a:srgbClr val="12293A"/>
                </a:solidFill>
                <a:latin typeface="黑体" panose="02010609060101010101" charset="-122"/>
              </a:rPr>
              <a:t>历史意义、临床价值、审慎边界必须同时成立。</a:t>
            </a:r>
            <a:endParaRPr sz="1420" b="1">
              <a:solidFill>
                <a:srgbClr val="12293A"/>
              </a:solidFill>
              <a:latin typeface="黑体" panose="02010609060101010101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6419088"/>
            <a:ext cx="548640" cy="201168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820" b="1">
                <a:solidFill>
                  <a:srgbClr val="586874"/>
                </a:solidFill>
                <a:latin typeface="黑体" panose="02010609060101010101" charset="-122"/>
              </a:rPr>
              <a:t>15/15</a:t>
            </a:r>
            <a:endParaRPr sz="820" b="1">
              <a:solidFill>
                <a:srgbClr val="586874"/>
              </a:solidFill>
              <a:latin typeface="黑体" panose="02010609060101010101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960120" y="2194560"/>
            <a:ext cx="10012680" cy="749808"/>
          </a:xfrm>
          <a:prstGeom prst="roundRect">
            <a:avLst/>
          </a:prstGeom>
          <a:solidFill>
            <a:srgbClr val="E8F6F4"/>
          </a:solidFill>
          <a:ln w="12700">
            <a:solidFill>
              <a:srgbClr val="1C9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98448" y="2395728"/>
            <a:ext cx="1234440" cy="21945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1460" b="1">
                <a:solidFill>
                  <a:srgbClr val="1C908B"/>
                </a:solidFill>
                <a:latin typeface="黑体" panose="02010609060101010101" charset="-122"/>
              </a:rPr>
              <a:t>历史意义</a:t>
            </a:r>
            <a:endParaRPr sz="1460" b="1">
              <a:solidFill>
                <a:srgbClr val="1C908B"/>
              </a:solidFill>
              <a:latin typeface="黑体" panose="02010609060101010101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670048" y="2395728"/>
            <a:ext cx="7726679" cy="21945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1500" b="1">
                <a:solidFill>
                  <a:srgbClr val="12293A"/>
                </a:solidFill>
                <a:latin typeface="宋体" panose="02010600030101010101" pitchFamily="2" charset="-122"/>
              </a:rPr>
              <a:t>细胞治疗与免疫治疗改变了医学对疾病的干预对象。</a:t>
            </a:r>
            <a:endParaRPr sz="1500" b="1">
              <a:solidFill>
                <a:srgbClr val="12293A"/>
              </a:solidFill>
              <a:latin typeface="宋体" panose="02010600030101010101" pitchFamily="2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960120" y="3246120"/>
            <a:ext cx="10012680" cy="749808"/>
          </a:xfrm>
          <a:prstGeom prst="roundRect">
            <a:avLst/>
          </a:prstGeom>
          <a:solidFill>
            <a:srgbClr val="FFF0DA"/>
          </a:solidFill>
          <a:ln w="12700">
            <a:solidFill>
              <a:srgbClr val="E59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447288"/>
            <a:ext cx="1234440" cy="21945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1460" b="1">
                <a:solidFill>
                  <a:srgbClr val="E59E3A"/>
                </a:solidFill>
                <a:latin typeface="黑体" panose="02010609060101010101" charset="-122"/>
              </a:rPr>
              <a:t>临床价值</a:t>
            </a:r>
            <a:endParaRPr sz="1460" b="1">
              <a:solidFill>
                <a:srgbClr val="E59E3A"/>
              </a:solidFill>
              <a:latin typeface="黑体" panose="02010609060101010101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670048" y="3447288"/>
            <a:ext cx="7726679" cy="21945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1500" b="1">
                <a:solidFill>
                  <a:srgbClr val="12293A"/>
                </a:solidFill>
                <a:latin typeface="宋体" panose="02010600030101010101" pitchFamily="2" charset="-122"/>
              </a:rPr>
              <a:t>已在部分血液肿瘤、TMB-H 实体瘤和特定黑色素瘤中显示真实证据。</a:t>
            </a:r>
            <a:endParaRPr sz="1500" b="1">
              <a:solidFill>
                <a:srgbClr val="12293A"/>
              </a:solidFill>
              <a:latin typeface="宋体" panose="02010600030101010101" pitchFamily="2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960120" y="4297679"/>
            <a:ext cx="10012680" cy="749808"/>
          </a:xfrm>
          <a:prstGeom prst="roundRect">
            <a:avLst/>
          </a:prstGeom>
          <a:solidFill>
            <a:srgbClr val="F6E5E3"/>
          </a:solidFill>
          <a:ln w="12700">
            <a:solidFill>
              <a:srgbClr val="C04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98448" y="4498847"/>
            <a:ext cx="1234440" cy="21945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1460" b="1">
                <a:solidFill>
                  <a:srgbClr val="C04A43"/>
                </a:solidFill>
                <a:latin typeface="黑体" panose="02010609060101010101" charset="-122"/>
              </a:rPr>
              <a:t>审慎边界</a:t>
            </a:r>
            <a:endParaRPr sz="1460" b="1">
              <a:solidFill>
                <a:srgbClr val="C04A43"/>
              </a:solidFill>
              <a:latin typeface="黑体" panose="02010609060101010101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670048" y="4498847"/>
            <a:ext cx="7726679" cy="21945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/>
            <a:r>
              <a:rPr sz="1500" b="1">
                <a:solidFill>
                  <a:srgbClr val="12293A"/>
                </a:solidFill>
                <a:latin typeface="宋体" panose="02010600030101010101" pitchFamily="2" charset="-122"/>
              </a:rPr>
              <a:t>适应证、毒性、长期风险、制造流程和费用可及性决定了它不能被神化。</a:t>
            </a:r>
            <a:endParaRPr sz="1500" b="1">
              <a:solidFill>
                <a:srgbClr val="12293A"/>
              </a:solidFill>
              <a:latin typeface="宋体" panose="02010600030101010101" pitchFamily="2" charset="-122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1920240" y="5577840"/>
            <a:ext cx="8321040" cy="493776"/>
          </a:xfrm>
          <a:prstGeom prst="roundRect">
            <a:avLst/>
          </a:prstGeom>
          <a:solidFill>
            <a:srgbClr val="12293A"/>
          </a:solidFill>
          <a:ln w="12700">
            <a:solidFill>
              <a:srgbClr val="1229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86000" y="5715000"/>
            <a:ext cx="7589520" cy="18288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/>
            <a:r>
              <a:rPr sz="1450" b="1">
                <a:solidFill>
                  <a:srgbClr val="FFFFFF"/>
                </a:solidFill>
                <a:latin typeface="黑体" panose="02010609060101010101" charset="-122"/>
              </a:rPr>
              <a:t>支持发展，但不神化；用证据、风险和可及性一起判断。</a:t>
            </a:r>
            <a:endParaRPr sz="1450" b="1">
              <a:solidFill>
                <a:srgbClr val="FFFFFF"/>
              </a:solidFill>
              <a:latin typeface="黑体" panose="02010609060101010101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2196</Words>
  <Application>WPS 演示</Application>
  <PresentationFormat>On-screen Show (4:3)</PresentationFormat>
  <Paragraphs>443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4" baseType="lpstr">
      <vt:lpstr>Arial</vt:lpstr>
      <vt:lpstr>宋体</vt:lpstr>
      <vt:lpstr>Wingdings</vt:lpstr>
      <vt:lpstr>Arial</vt:lpstr>
      <vt:lpstr>黑体</vt:lpstr>
      <vt:lpstr>Calibri</vt:lpstr>
      <vt:lpstr>微软雅黑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张思成</cp:lastModifiedBy>
  <cp:revision>2</cp:revision>
  <dcterms:created xsi:type="dcterms:W3CDTF">2013-01-27T09:14:00Z</dcterms:created>
  <dcterms:modified xsi:type="dcterms:W3CDTF">2026-06-11T15:29:33Z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2501AB3DF3F64F928A3E2B143F4D8E2C_12</vt:lpwstr>
  </property>
  <property fmtid="{D5CDD505-2E9C-101B-9397-08002B2CF9AE}" pid="3" name="KSOProductBuildVer">
    <vt:lpwstr>2052-12.1.0.23542</vt:lpwstr>
  </property>
</Properties>
</file>