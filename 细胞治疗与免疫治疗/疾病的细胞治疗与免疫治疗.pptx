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图0_封面细胞插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530352"/>
            <a:ext cx="6629400" cy="544068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27432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00">
                <a:solidFill>
                  <a:srgbClr val="C4EBE7"/>
                </a:solidFill>
                <a:latin typeface="SimHei"/>
              </a:rPr>
              <a:t>医学发展史课程汇报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532120" cy="6400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3300">
                <a:solidFill>
                  <a:srgbClr val="FFFFFF"/>
                </a:solidFill>
                <a:latin typeface="SimHei"/>
              </a:rPr>
              <a:t>疾病的细胞治疗与免疫治疗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084831"/>
            <a:ext cx="5486400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720">
                <a:solidFill>
                  <a:srgbClr val="DCEBEE"/>
                </a:solidFill>
                <a:latin typeface="SimHei"/>
              </a:rPr>
              <a:t>从外部杀伤到免疫重塑：医学治疗逻辑的转变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2999232"/>
            <a:ext cx="5394960" cy="102412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82112"/>
            <a:ext cx="10058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60">
                <a:solidFill>
                  <a:srgbClr val="C4EBE7"/>
                </a:solidFill>
                <a:latin typeface="SimHei"/>
              </a:rPr>
              <a:t>核心观点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93008"/>
            <a:ext cx="461772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50">
                <a:solidFill>
                  <a:srgbClr val="FFFFFF"/>
                </a:solidFill>
                <a:latin typeface="SimHei"/>
              </a:rPr>
              <a:t>支持发展，但不神化；用证据、风险和可及性一起判断。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462272"/>
            <a:ext cx="4297680" cy="82296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00">
                <a:solidFill>
                  <a:srgbClr val="E2F2F4"/>
                </a:solidFill>
                <a:latin typeface="SimSun"/>
              </a:rPr>
              <a:t>10–15 分钟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00">
                <a:solidFill>
                  <a:srgbClr val="E2F2F4"/>
                </a:solidFill>
                <a:latin typeface="SimSun"/>
              </a:rPr>
              <a:t>2 人展示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00">
                <a:solidFill>
                  <a:srgbClr val="E2F2F4"/>
                </a:solidFill>
                <a:latin typeface="SimSun"/>
              </a:rPr>
              <a:t>组员：姓名1 / 姓名2 / 姓名3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01/15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封面插画为本材料生成示意图；事实来源见各页底部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为什么这是医学史问题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它不是一种新药的出现，而是一种治疗范式的变化。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Methotrexate history；NCI Immunotherapy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40280"/>
            <a:ext cx="4434840" cy="2788920"/>
          </a:xfrm>
          <a:prstGeom prst="roundRect">
            <a:avLst/>
          </a:prstGeom>
          <a:solidFill>
            <a:srgbClr val="F7EFEE"/>
          </a:solidFill>
          <a:ln w="12700">
            <a:solidFill>
              <a:srgbClr val="E1CD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578608"/>
            <a:ext cx="118872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000">
                <a:solidFill>
                  <a:srgbClr val="C04A43"/>
                </a:solidFill>
                <a:latin typeface="SimHei"/>
              </a:rPr>
              <a:t>传统逻辑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090672"/>
            <a:ext cx="219456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400">
                <a:solidFill>
                  <a:srgbClr val="12293A"/>
                </a:solidFill>
                <a:latin typeface="SimHei"/>
              </a:rPr>
              <a:t>外部杀伤疾病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03320"/>
            <a:ext cx="3383280" cy="7772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手术切除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放疗破坏 DNA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化疗抑制增殖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96128" y="3310128"/>
            <a:ext cx="64008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4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240280"/>
            <a:ext cx="4434840" cy="278892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2578608"/>
            <a:ext cx="91440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000">
                <a:solidFill>
                  <a:srgbClr val="1C908B"/>
                </a:solidFill>
                <a:latin typeface="SimHei"/>
              </a:rPr>
              <a:t>新逻辑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090672"/>
            <a:ext cx="29718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300">
                <a:solidFill>
                  <a:srgbClr val="12293A"/>
                </a:solidFill>
                <a:latin typeface="SimHei"/>
              </a:rPr>
              <a:t>免疫系统成为治疗对象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9712" y="3703320"/>
            <a:ext cx="3383280" cy="7772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解除免疫抑制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工程化 T 细胞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放大已有免疫反应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为什么癌症治疗需要新逻辑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癌症负担和复发耐药，推动医学寻找超越单纯杀伤的治疗路径。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资料：American Cancer Society Global Cancer Statistics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304288"/>
            <a:ext cx="3154680" cy="157276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532888"/>
            <a:ext cx="269748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2000万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182112"/>
            <a:ext cx="256032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220">
                <a:solidFill>
                  <a:srgbClr val="E6F4F6"/>
                </a:solidFill>
                <a:latin typeface="SimSun"/>
              </a:rPr>
              <a:t>2022 年全球新发癌症病例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8848" y="2304288"/>
            <a:ext cx="3154680" cy="1572768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2532888"/>
            <a:ext cx="269748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970万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182112"/>
            <a:ext cx="256032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220">
                <a:solidFill>
                  <a:srgbClr val="E6F4F6"/>
                </a:solidFill>
                <a:latin typeface="SimSun"/>
              </a:rPr>
              <a:t>2022 年全球癌症死亡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2304288"/>
            <a:ext cx="3154680" cy="1572768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532888"/>
            <a:ext cx="269748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3500万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82112"/>
            <a:ext cx="256032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220">
                <a:solidFill>
                  <a:srgbClr val="E6F4F6"/>
                </a:solidFill>
                <a:latin typeface="SimSun"/>
              </a:rPr>
              <a:t>2050 年新发病例预计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4709160"/>
            <a:ext cx="9966960" cy="713232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4928616"/>
            <a:ext cx="89611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50">
                <a:solidFill>
                  <a:srgbClr val="FFFFFF"/>
                </a:solidFill>
                <a:latin typeface="SimHei"/>
              </a:rPr>
              <a:t>结论：问题不只是“还需要新药”，而是传统治疗逻辑面对长期负担时需要升级。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历史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从外部杀伤到免疫重塑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医学治疗对象从肿瘤本身，逐渐扩展到免疫系统。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Milestones；NCI Methotrexate history；FDA Amtagvi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36392"/>
            <a:ext cx="10607040" cy="45720"/>
          </a:xfrm>
          <a:prstGeom prst="rect">
            <a:avLst/>
          </a:prstGeom>
          <a:solidFill>
            <a:srgbClr val="CFDBE1"/>
          </a:solidFill>
          <a:ln w="12700">
            <a:solidFill>
              <a:srgbClr val="CF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898648"/>
            <a:ext cx="493776" cy="493776"/>
          </a:xfrm>
          <a:prstGeom prst="roundRect">
            <a:avLst/>
          </a:prstGeom>
          <a:solidFill>
            <a:srgbClr val="586874"/>
          </a:solidFill>
          <a:ln w="12700"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586874"/>
                </a:solidFill>
                <a:latin typeface="SimHei"/>
              </a:rPr>
              <a:t>传统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手术/放疗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直接清除或破坏病灶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99231" y="2898648"/>
            <a:ext cx="493776" cy="493776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3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E59E3A"/>
                </a:solidFill>
                <a:latin typeface="SimHei"/>
              </a:rPr>
              <a:t>1950s–1970s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9735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化疗发展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2303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用药物抑制快速增殖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55464" y="2898648"/>
            <a:ext cx="493776" cy="493776"/>
          </a:xfrm>
          <a:prstGeom prst="roundRect">
            <a:avLst/>
          </a:prstGeom>
          <a:solidFill>
            <a:srgbClr val="46915B"/>
          </a:solidFill>
          <a:ln w="12700">
            <a:solidFill>
              <a:srgbClr val="46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46915B"/>
                </a:solidFill>
                <a:latin typeface="SimHei"/>
              </a:rPr>
              <a:t>1997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单克隆抗体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8536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识别特定靶点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11696" y="2898648"/>
            <a:ext cx="493776" cy="493776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1C908B"/>
                </a:solidFill>
                <a:latin typeface="SimHei"/>
              </a:rPr>
              <a:t>2011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检查点抑制剂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解除免疫刹车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67928" y="2898648"/>
            <a:ext cx="493776" cy="493776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59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1C3848"/>
                </a:solidFill>
                <a:latin typeface="SimHei"/>
              </a:rPr>
              <a:t>2017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8431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CAR-T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999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改造患者 T 细胞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59" y="2898648"/>
            <a:ext cx="493776" cy="493776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94391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C04A43"/>
                </a:solidFill>
                <a:latin typeface="SimHei"/>
              </a:rP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TIL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57231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放大肿瘤内 T 细胞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5349240"/>
            <a:ext cx="813816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12293A"/>
                </a:solidFill>
                <a:latin typeface="SimHei"/>
              </a:rPr>
              <a:t>变化主线：从“打击肿瘤”走向“利用人体系统对抗肿瘤”。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三条路线：解除刹车、改造细胞、放大反应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三类技术代表三种调动免疫系统的方法。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Immunotherapy；NCI CAR T Cells；FDA Amtagvi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19" y="2697480"/>
            <a:ext cx="2331720" cy="530352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19659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650">
                <a:solidFill>
                  <a:srgbClr val="FFFFFF"/>
                </a:solidFill>
                <a:latin typeface="SimHei"/>
              </a:rPr>
              <a:t>解除刹车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493008"/>
            <a:ext cx="196596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200">
                <a:solidFill>
                  <a:srgbClr val="12293A"/>
                </a:solidFill>
                <a:latin typeface="SimHei"/>
              </a:rPr>
              <a:t>免疫检查点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33087"/>
            <a:ext cx="214884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40">
                <a:solidFill>
                  <a:srgbClr val="141A1F"/>
                </a:solidFill>
                <a:latin typeface="SimSun"/>
              </a:rPr>
              <a:t>让 T 细胞重新攻击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92040" y="2697480"/>
            <a:ext cx="2331720" cy="530352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834640"/>
            <a:ext cx="19659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650">
                <a:solidFill>
                  <a:srgbClr val="FFFFFF"/>
                </a:solidFill>
                <a:latin typeface="SimHei"/>
              </a:rPr>
              <a:t>改造细胞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493008"/>
            <a:ext cx="196596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200">
                <a:solidFill>
                  <a:srgbClr val="12293A"/>
                </a:solidFill>
                <a:latin typeface="SimHei"/>
              </a:rPr>
              <a:t>CAR-T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133087"/>
            <a:ext cx="214884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40">
                <a:solidFill>
                  <a:srgbClr val="141A1F"/>
                </a:solidFill>
                <a:latin typeface="SimSun"/>
              </a:rPr>
              <a:t>给 T 细胞新识别能力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19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59" y="2697480"/>
            <a:ext cx="2331720" cy="530352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2834640"/>
            <a:ext cx="19659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650">
                <a:solidFill>
                  <a:srgbClr val="FFFFFF"/>
                </a:solidFill>
                <a:latin typeface="SimHei"/>
              </a:rPr>
              <a:t>放大反应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93008"/>
            <a:ext cx="196596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200">
                <a:solidFill>
                  <a:srgbClr val="12293A"/>
                </a:solidFill>
                <a:latin typeface="SimHei"/>
              </a:rPr>
              <a:t>TIL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799" y="4133087"/>
            <a:ext cx="214884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40">
                <a:solidFill>
                  <a:srgbClr val="141A1F"/>
                </a:solidFill>
                <a:latin typeface="SimSun"/>
              </a:rPr>
              <a:t>扩增已有抗肿瘤反应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技术一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检查点抑制剂：不是直接杀癌，而是解除免疫刹车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治疗目标从杀死癌细胞，转向解除免疫抑制。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06/15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Immunotherapy；Nobel Prize 2018；FDA Pembrolizumab TMB-H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486400" cy="37947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图2_免疫检查点示意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24683"/>
            <a:ext cx="5029200" cy="2849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601968" y="2148840"/>
            <a:ext cx="4023360" cy="73152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76856"/>
            <a:ext cx="36941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1C908B"/>
                </a:solidFill>
                <a:latin typeface="SimHei"/>
              </a:rPr>
              <a:t>关键词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606040"/>
            <a:ext cx="3694176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CTLA-4 / PD-1 / PD-L1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1968" y="3108960"/>
            <a:ext cx="4023360" cy="8229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3236976"/>
            <a:ext cx="36941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E59E3A"/>
                </a:solidFill>
                <a:latin typeface="SimHei"/>
              </a:rPr>
              <a:t>历史节点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566160"/>
            <a:ext cx="3694176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2018 年诺奖：抑制免疫负调节治疗癌症。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1968" y="4187952"/>
            <a:ext cx="4023360" cy="8229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59" y="4315968"/>
            <a:ext cx="36941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C04A43"/>
                </a:solidFill>
                <a:latin typeface="SimHei"/>
              </a:rPr>
              <a:t>实例证据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59" y="4645152"/>
            <a:ext cx="3694176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Pembrolizumab 用于 TMB-H 实体瘤，ORR 29%。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技术二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CAR-T：把患者 T 细胞改造成“活的药物”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患者细胞本身成为治疗材料，药物形态从分子扩展到活细胞。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07/15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Kymriah article；NCI CAR T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1680"/>
            <a:ext cx="10789920" cy="363931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63040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采集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分离 T 细胞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41448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15768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18688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8688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25496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工程化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25496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加入 CAR 结构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096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1416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74336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4336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扩增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体外扩增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52744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27064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984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预处理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淋巴清除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708392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982712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85632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回输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回输体内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464040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738360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41280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8088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监测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8088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CRS / ICANS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88920" y="4480560"/>
            <a:ext cx="6537960" cy="749808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17520" y="4681728"/>
            <a:ext cx="608076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20">
                <a:solidFill>
                  <a:srgbClr val="FFFFFF"/>
                </a:solidFill>
                <a:latin typeface="SimHei"/>
              </a:rPr>
              <a:t>关键点：不是把药片送进身体，而是把能识别肿瘤的免疫细胞送回身体。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CAR-T 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CAR-T 证据与风险：有效，但要求高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CAR-T 是高反应、高管理要求的治疗。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08/15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Kymriah article；FDA Aucatzyl Approval；NCI CAR T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7" y="2560320"/>
            <a:ext cx="2514600" cy="530352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7" y="2706624"/>
            <a:ext cx="214884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00">
                <a:solidFill>
                  <a:srgbClr val="FFFFFF"/>
                </a:solidFill>
                <a:latin typeface="SimHei"/>
              </a:rPr>
              <a:t>疗效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401568"/>
            <a:ext cx="2542032" cy="11887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Kymriah：B-ALL，3 个月总体缓解率 83%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Aucatzyl：B-ALL，3 个月内 CR 42%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2560320"/>
            <a:ext cx="2514600" cy="530352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706624"/>
            <a:ext cx="214884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00">
                <a:solidFill>
                  <a:srgbClr val="FFFFFF"/>
                </a:solidFill>
                <a:latin typeface="SimHei"/>
              </a:rPr>
              <a:t>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456" y="3401568"/>
            <a:ext cx="2542032" cy="11887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CRS、ICANS 需要规范处理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Aucatzyl：CRS 75%，ICANS 24%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2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85632" y="2560320"/>
            <a:ext cx="2514600" cy="530352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2" y="2706624"/>
            <a:ext cx="214884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00">
                <a:solidFill>
                  <a:srgbClr val="FFFFFF"/>
                </a:solidFill>
                <a:latin typeface="SimHei"/>
              </a:rPr>
              <a:t>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401568"/>
            <a:ext cx="2542032" cy="11887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个体化制造与等待周期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需要具备毒性处理能力的治疗中心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669280"/>
            <a:ext cx="85953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00">
                <a:solidFill>
                  <a:srgbClr val="12293A"/>
                </a:solidFill>
                <a:latin typeface="SimHei"/>
              </a:rPr>
              <a:t>判断方式：疗效数字不能脱离风险和治疗条件。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技术三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TIL：放大患者体内已经存在的抗肿瘤反应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TIL 把患者已有免疫反应筛出并放大，实体瘤意义明确但边界仍在。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09/15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资料：FDA Amtagvi；NCI TIL therapy article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2011680"/>
            <a:ext cx="4617720" cy="391363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CI_TIL_therapy_infograph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316" y="2212848"/>
            <a:ext cx="3456432" cy="34564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897880" y="224028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2472" y="2368296"/>
            <a:ext cx="41513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1C908B"/>
                </a:solidFill>
                <a:latin typeface="SimHei"/>
              </a:rPr>
              <a:t>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2472" y="2697480"/>
            <a:ext cx="4151376" cy="20116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从肿瘤组织分离 T 细胞，体外扩增后回输。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324612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2472" y="3374136"/>
            <a:ext cx="41513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C04A43"/>
                </a:solidFill>
                <a:latin typeface="SimHei"/>
              </a:rPr>
              <a:t>实例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2472" y="3703320"/>
            <a:ext cx="4151376" cy="20116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Amtagvi 推荐剂量患者 ORR 31.5%。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425196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62472" y="4379976"/>
            <a:ext cx="41513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E59E3A"/>
                </a:solidFill>
                <a:latin typeface="SimHei"/>
              </a:rPr>
              <a:t>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4709160"/>
            <a:ext cx="4151376" cy="20116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加速批准仍需确认性试验验证临床获益。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证据不能直接横比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不同病种、终点、患者条件不同，不能用一个数字排名疗法。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10/15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资料：FDA；NCI。说明：疗效终点不同，不能直接横向排名。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9144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76856"/>
            <a:ext cx="82296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技术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2148840"/>
            <a:ext cx="16002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276856"/>
            <a:ext cx="150876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代表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2148840"/>
            <a:ext cx="196596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39" y="2276856"/>
            <a:ext cx="1874519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适用疾病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2148840"/>
            <a:ext cx="141732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276856"/>
            <a:ext cx="132588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关键指标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48840"/>
            <a:ext cx="18288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276856"/>
            <a:ext cx="173736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主要风险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148840"/>
            <a:ext cx="196596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276856"/>
            <a:ext cx="1874519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不能横比原因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24328"/>
            <a:ext cx="9144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" y="2743200"/>
            <a:ext cx="8046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检查点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2624328"/>
            <a:ext cx="16002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72184" y="2743200"/>
            <a:ext cx="14904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Pembrolizumab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624328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2384" y="2743200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TMB-H 实体瘤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2624328"/>
            <a:ext cx="141732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38344" y="2743200"/>
            <a:ext cx="1307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ORR 29%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624328"/>
            <a:ext cx="18288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2743200"/>
            <a:ext cx="17190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免疫相关不良反应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624328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84464" y="2743200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分子特征入组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99816"/>
            <a:ext cx="9144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" y="3218688"/>
            <a:ext cx="8046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CAR-T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3099816"/>
            <a:ext cx="16002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72184" y="3218688"/>
            <a:ext cx="14904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Kymriah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17520" y="3099816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72384" y="3218688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儿童/青年 B-ALL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83480" y="3099816"/>
            <a:ext cx="141732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38344" y="3218688"/>
            <a:ext cx="1307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缓解率 83%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099816"/>
            <a:ext cx="18288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55664" y="3218688"/>
            <a:ext cx="17190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CRS / ICANS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3099816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84464" y="3218688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血液肿瘤场景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75304"/>
            <a:ext cx="9144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3694176"/>
            <a:ext cx="8046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CAR-T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17320" y="3575304"/>
            <a:ext cx="16002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72184" y="3694176"/>
            <a:ext cx="14904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Aucatzyl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575304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72384" y="3694176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成人 B-ALL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83480" y="3575304"/>
            <a:ext cx="141732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38344" y="3694176"/>
            <a:ext cx="1307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CR 42%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3575304"/>
            <a:ext cx="18288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55664" y="3694176"/>
            <a:ext cx="17190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CRS 75%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3575304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4" y="3694176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终点为 CR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050791"/>
            <a:ext cx="9144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7784" y="4169663"/>
            <a:ext cx="8046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TIL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17320" y="4050791"/>
            <a:ext cx="16002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72184" y="4169663"/>
            <a:ext cx="14904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Amtagvi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4050791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72384" y="4169663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晚期黑色素瘤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83480" y="4050791"/>
            <a:ext cx="141732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38344" y="4169663"/>
            <a:ext cx="1307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ORR 31.5%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4050791"/>
            <a:ext cx="18288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4169663"/>
            <a:ext cx="17190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治疗相关毒性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0" y="4050791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4169663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加速批准人群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417320" y="5102352"/>
            <a:ext cx="9372600" cy="658368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783080" y="5303520"/>
            <a:ext cx="86410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20">
                <a:solidFill>
                  <a:srgbClr val="FFFFFF"/>
                </a:solidFill>
                <a:latin typeface="SimHei"/>
              </a:rPr>
              <a:t>读法：这些数据证明“有真实证据”，不证明“百分比最高的疗法最好”。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从开药到医疗工程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细胞治疗依赖完整医疗系统，而不是单一药品。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CAR T Cells；FDA 相关批准文件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患者筛选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9656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03704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76856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细胞采集/
组织获取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3048" y="2834640"/>
            <a:ext cx="1234440" cy="786384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实验室制造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8344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22392" y="2834640"/>
            <a:ext cx="1234440" cy="786384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5544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质控运输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31736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04888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回输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41080" y="2834640"/>
            <a:ext cx="1234440" cy="786384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14232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毒性管理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6376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50424" y="2834640"/>
            <a:ext cx="1234440" cy="786384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23576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长期随访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8992" y="4626864"/>
            <a:ext cx="9966960" cy="694944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4846320"/>
            <a:ext cx="9235440" cy="2103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40">
                <a:solidFill>
                  <a:srgbClr val="12293A"/>
                </a:solidFill>
                <a:latin typeface="SimHei"/>
              </a:rPr>
              <a:t>历史变化：治疗不再只是“药物进入身体”，而是临床、制造、监管和随访共同完成。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疗效越强，越需要边界和监管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强疗效必须配套适应证、毒性管理和长期监测。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CAR T Cells；FDA Boxed Warning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97864" y="2697480"/>
            <a:ext cx="2359152" cy="502920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199339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80">
                <a:solidFill>
                  <a:srgbClr val="FFFFFF"/>
                </a:solidFill>
                <a:latin typeface="SimHei"/>
              </a:rPr>
              <a:t>实体瘤难题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3474720"/>
            <a:ext cx="2286000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00">
                <a:solidFill>
                  <a:srgbClr val="141A1F"/>
                </a:solidFill>
                <a:latin typeface="SimSun"/>
              </a:rPr>
              <a:t>靶抗原
免疫抑制微环境
肿瘤异质性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01184" y="2697480"/>
            <a:ext cx="2359152" cy="502920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834640"/>
            <a:ext cx="199339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80">
                <a:solidFill>
                  <a:srgbClr val="FFFFFF"/>
                </a:solidFill>
                <a:latin typeface="SimHei"/>
              </a:rPr>
              <a:t>急性毒性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3474720"/>
            <a:ext cx="2286000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00">
                <a:solidFill>
                  <a:srgbClr val="141A1F"/>
                </a:solidFill>
                <a:latin typeface="SimSun"/>
              </a:rPr>
              <a:t>CRS
ICANS
需快速处理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19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04503" y="2697480"/>
            <a:ext cx="2359152" cy="502920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2834640"/>
            <a:ext cx="199339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80">
                <a:solidFill>
                  <a:srgbClr val="FFFFFF"/>
                </a:solidFill>
                <a:latin typeface="SimHei"/>
              </a:rPr>
              <a:t>长期风险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3474720"/>
            <a:ext cx="2286000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00">
                <a:solidFill>
                  <a:srgbClr val="141A1F"/>
                </a:solidFill>
                <a:latin typeface="SimSun"/>
              </a:rPr>
              <a:t>继发恶性肿瘤风险
长期监测
风险告知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5349240"/>
            <a:ext cx="7818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50">
                <a:solidFill>
                  <a:srgbClr val="12293A"/>
                </a:solidFill>
                <a:latin typeface="SimHei"/>
              </a:rPr>
              <a:t>态度：不因风险否定技术，也不因疗效忽略风险。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伦理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技术突破不等于公共价值自动实现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谁能用、谁承担风险、谁获得收益，决定公共价值。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TIL therapy article；FDA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176272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40864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C04A43"/>
                </a:solidFill>
                <a:latin typeface="SimHei"/>
              </a:rPr>
              <a:t>高价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340864"/>
            <a:ext cx="278892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141A1F"/>
                </a:solidFill>
                <a:latin typeface="SimSun"/>
              </a:rPr>
              <a:t>$515,000
NCI 报道公司宣布的单次治疗价格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176272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340864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C908B"/>
                </a:solidFill>
                <a:latin typeface="SimHei"/>
              </a:rPr>
              <a:t>中心限制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340864"/>
            <a:ext cx="278892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141A1F"/>
                </a:solidFill>
                <a:latin typeface="SimSun"/>
              </a:rPr>
              <a:t>需要规范治疗中心
采集、制造、回输能力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3712463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877055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E59E3A"/>
                </a:solidFill>
                <a:latin typeface="SimHei"/>
              </a:rPr>
              <a:t>支付与转诊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877055"/>
            <a:ext cx="278892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141A1F"/>
                </a:solidFill>
                <a:latin typeface="SimSun"/>
              </a:rPr>
              <a:t>保险支付
跨区域转诊
等待周期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712463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877055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C3848"/>
                </a:solidFill>
                <a:latin typeface="SimHei"/>
              </a:rPr>
              <a:t>知情同意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877055"/>
            <a:ext cx="278892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141A1F"/>
                </a:solidFill>
                <a:latin typeface="SimSun"/>
              </a:rPr>
              <a:t>长期风险
替代方案
随访数据公开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5376672"/>
            <a:ext cx="754380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900">
                <a:solidFill>
                  <a:srgbClr val="12293A"/>
                </a:solidFill>
                <a:latin typeface="SimHei"/>
              </a:rPr>
              <a:t>公共价值 = 临床获益 × 风险透明 × 可及性。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下一步不是更神奇，而是更可控、更公平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未来重点是精准筛选、安全管理和可及性改善。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综合资料：NCI；FDA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395728"/>
            <a:ext cx="3017520" cy="24871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743200"/>
            <a:ext cx="201168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500">
                <a:solidFill>
                  <a:srgbClr val="12293A"/>
                </a:solidFill>
                <a:latin typeface="SimHei"/>
              </a:rPr>
              <a:t>更准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93008"/>
            <a:ext cx="2011680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430">
                <a:solidFill>
                  <a:srgbClr val="141A1F"/>
                </a:solidFill>
                <a:latin typeface="SimSun"/>
              </a:rPr>
              <a:t>生物标志物筛选患者
减少无效治疗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395728"/>
            <a:ext cx="3017520" cy="2487168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743200"/>
            <a:ext cx="201168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500">
                <a:solidFill>
                  <a:srgbClr val="12293A"/>
                </a:solidFill>
                <a:latin typeface="SimHei"/>
              </a:rPr>
              <a:t>更安全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493008"/>
            <a:ext cx="2011680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430">
                <a:solidFill>
                  <a:srgbClr val="141A1F"/>
                </a:solidFill>
                <a:latin typeface="SimSun"/>
              </a:rPr>
              <a:t>降低 CRS / ICANS
强化长期登记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19" y="2395728"/>
            <a:ext cx="3017520" cy="2487168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743200"/>
            <a:ext cx="201168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500">
                <a:solidFill>
                  <a:srgbClr val="12293A"/>
                </a:solidFill>
                <a:latin typeface="SimHei"/>
              </a:rPr>
              <a:t>更可及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493008"/>
            <a:ext cx="2011680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430">
                <a:solidFill>
                  <a:srgbClr val="141A1F"/>
                </a:solidFill>
                <a:latin typeface="SimSun"/>
              </a:rPr>
              <a:t>缩短制造周期
改善支付和转诊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413248"/>
            <a:ext cx="89154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20">
                <a:solidFill>
                  <a:srgbClr val="12293A"/>
                </a:solidFill>
                <a:latin typeface="SimHei"/>
              </a:rPr>
              <a:t>历史方向：从“能不能做”走向“能否规范、安全、公平地做”。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支持发展，但不神化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历史意义、临床价值、审慎边界必须同时成立。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综合资料：ACS；NCI；FDA；Nobel Prize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194560"/>
            <a:ext cx="10012680" cy="74980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2395728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60">
                <a:solidFill>
                  <a:srgbClr val="1C908B"/>
                </a:solidFill>
                <a:latin typeface="SimHei"/>
              </a:rPr>
              <a:t>历史意义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395728"/>
            <a:ext cx="7726679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00">
                <a:solidFill>
                  <a:srgbClr val="12293A"/>
                </a:solidFill>
                <a:latin typeface="SimSun"/>
              </a:rPr>
              <a:t>细胞治疗与免疫治疗改变了医学对疾病的干预对象。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246120"/>
            <a:ext cx="10012680" cy="749808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447288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60">
                <a:solidFill>
                  <a:srgbClr val="E59E3A"/>
                </a:solidFill>
                <a:latin typeface="SimHei"/>
              </a:rPr>
              <a:t>临床价值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3447288"/>
            <a:ext cx="7726679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00">
                <a:solidFill>
                  <a:srgbClr val="12293A"/>
                </a:solidFill>
                <a:latin typeface="SimSun"/>
              </a:rPr>
              <a:t>已在部分血液肿瘤、TMB-H 实体瘤和特定黑色素瘤中显示真实证据。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297679"/>
            <a:ext cx="10012680" cy="749808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" y="4498847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60">
                <a:solidFill>
                  <a:srgbClr val="C04A43"/>
                </a:solidFill>
                <a:latin typeface="SimHei"/>
              </a:rPr>
              <a:t>审慎边界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4498847"/>
            <a:ext cx="7726679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00">
                <a:solidFill>
                  <a:srgbClr val="12293A"/>
                </a:solidFill>
                <a:latin typeface="SimSun"/>
              </a:rPr>
              <a:t>适应证、毒性、长期风险、制造流程和费用可及性决定了它不能被神化。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20240" y="5577840"/>
            <a:ext cx="8321040" cy="493776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5715000"/>
            <a:ext cx="758952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450">
                <a:solidFill>
                  <a:srgbClr val="FFFFFF"/>
                </a:solidFill>
                <a:latin typeface="SimHei"/>
              </a:rPr>
              <a:t>支持发展，但不神化；用证据、风险和可及性一起判断。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